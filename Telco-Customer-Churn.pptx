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78" r:id="rId3"/>
    <p:sldId id="257" r:id="rId4"/>
    <p:sldId id="279" r:id="rId5"/>
    <p:sldId id="258" r:id="rId6"/>
    <p:sldId id="259" r:id="rId7"/>
    <p:sldId id="260" r:id="rId8"/>
    <p:sldId id="261" r:id="rId9"/>
    <p:sldId id="262" r:id="rId10"/>
    <p:sldId id="264" r:id="rId11"/>
    <p:sldId id="265" r:id="rId12"/>
    <p:sldId id="266" r:id="rId13"/>
    <p:sldId id="268" r:id="rId14"/>
    <p:sldId id="269" r:id="rId15"/>
    <p:sldId id="270" r:id="rId16"/>
    <p:sldId id="280" r:id="rId17"/>
    <p:sldId id="281" r:id="rId18"/>
    <p:sldId id="272" r:id="rId19"/>
    <p:sldId id="273" r:id="rId20"/>
    <p:sldId id="282" r:id="rId21"/>
    <p:sldId id="274" r:id="rId22"/>
    <p:sldId id="275" r:id="rId23"/>
    <p:sldId id="283" r:id="rId24"/>
    <p:sldId id="271" r:id="rId25"/>
    <p:sldId id="277"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142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4527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15986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15628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71498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64123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8684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1578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04307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11/17/2025</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24773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0483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53792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11/17/2025</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258367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66333"/>
          </a:xfrm>
        </p:spPr>
        <p:txBody>
          <a:bodyPr>
            <a:normAutofit fontScale="90000"/>
          </a:bodyPr>
          <a:lstStyle/>
          <a:p>
            <a:r>
              <a:rPr lang="en-US" dirty="0"/>
              <a:t>Customer Churn Prediction &amp; Analysis</a:t>
            </a:r>
            <a:endParaRPr dirty="0"/>
          </a:p>
        </p:txBody>
      </p:sp>
      <p:sp>
        <p:nvSpPr>
          <p:cNvPr id="3" name="Content Placeholder 2"/>
          <p:cNvSpPr>
            <a:spLocks noGrp="1"/>
          </p:cNvSpPr>
          <p:nvPr>
            <p:ph idx="1"/>
          </p:nvPr>
        </p:nvSpPr>
        <p:spPr/>
        <p:txBody>
          <a:bodyPr>
            <a:normAutofit/>
          </a:bodyPr>
          <a:lstStyle/>
          <a:p>
            <a:endParaRPr dirty="0"/>
          </a:p>
          <a:p>
            <a:pPr marL="0" indent="0">
              <a:buNone/>
            </a:pPr>
            <a:endParaRPr lang="en-US" dirty="0"/>
          </a:p>
          <a:p>
            <a:pPr marL="0" indent="0">
              <a:buNone/>
            </a:pPr>
            <a:endParaRPr lang="en-US" dirty="0"/>
          </a:p>
          <a:p>
            <a:pPr marL="0" indent="0">
              <a:buNone/>
            </a:pPr>
            <a:endParaRPr lang="en-US" dirty="0"/>
          </a:p>
          <a:p>
            <a:pPr marL="0" indent="0">
              <a:buNone/>
            </a:pPr>
            <a:endParaRPr dirty="0"/>
          </a:p>
          <a:p>
            <a:r>
              <a:rPr dirty="0"/>
              <a:t>Dataset: Telco Customer Churn</a:t>
            </a:r>
          </a:p>
          <a:p>
            <a:r>
              <a:rPr dirty="0"/>
              <a:t>Tools: Python, </a:t>
            </a:r>
            <a:r>
              <a:rPr dirty="0" err="1"/>
              <a:t>Jupyter</a:t>
            </a:r>
            <a:r>
              <a:rPr dirty="0"/>
              <a:t> Notebook</a:t>
            </a:r>
          </a:p>
        </p:txBody>
      </p:sp>
      <p:graphicFrame>
        <p:nvGraphicFramePr>
          <p:cNvPr id="4" name="Table 4">
            <a:extLst>
              <a:ext uri="{FF2B5EF4-FFF2-40B4-BE49-F238E27FC236}">
                <a16:creationId xmlns:a16="http://schemas.microsoft.com/office/drawing/2014/main" id="{A0019F14-9E89-42BB-896C-1A789682354A}"/>
              </a:ext>
            </a:extLst>
          </p:cNvPr>
          <p:cNvGraphicFramePr>
            <a:graphicFrameLocks noGrp="1"/>
          </p:cNvGraphicFramePr>
          <p:nvPr>
            <p:extLst>
              <p:ext uri="{D42A27DB-BD31-4B8C-83A1-F6EECF244321}">
                <p14:modId xmlns:p14="http://schemas.microsoft.com/office/powerpoint/2010/main" val="1061915421"/>
              </p:ext>
            </p:extLst>
          </p:nvPr>
        </p:nvGraphicFramePr>
        <p:xfrm>
          <a:off x="457200" y="2146663"/>
          <a:ext cx="7870371" cy="1859280"/>
        </p:xfrm>
        <a:graphic>
          <a:graphicData uri="http://schemas.openxmlformats.org/drawingml/2006/table">
            <a:tbl>
              <a:tblPr firstRow="1" bandRow="1">
                <a:tableStyleId>{5C22544A-7EE6-4342-B048-85BDC9FD1C3A}</a:tableStyleId>
              </a:tblPr>
              <a:tblGrid>
                <a:gridCol w="7870371">
                  <a:extLst>
                    <a:ext uri="{9D8B030D-6E8A-4147-A177-3AD203B41FA5}">
                      <a16:colId xmlns:a16="http://schemas.microsoft.com/office/drawing/2014/main" val="3011659179"/>
                    </a:ext>
                  </a:extLst>
                </a:gridCol>
              </a:tblGrid>
              <a:tr h="46482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GROUP 1 MEMBERS</a:t>
                      </a:r>
                    </a:p>
                  </a:txBody>
                  <a:tcPr/>
                </a:tc>
                <a:extLst>
                  <a:ext uri="{0D108BD9-81ED-4DB2-BD59-A6C34878D82A}">
                    <a16:rowId xmlns:a16="http://schemas.microsoft.com/office/drawing/2014/main" val="3353779457"/>
                  </a:ext>
                </a:extLst>
              </a:tr>
              <a:tr h="464820">
                <a:tc>
                  <a:txBody>
                    <a:bodyPr/>
                    <a:lstStyle/>
                    <a:p>
                      <a:r>
                        <a:rPr lang="en-US" dirty="0"/>
                        <a:t>ARINEITWE THOMAS</a:t>
                      </a:r>
                      <a:endParaRPr lang="en-UG" dirty="0"/>
                    </a:p>
                  </a:txBody>
                  <a:tcPr/>
                </a:tc>
                <a:extLst>
                  <a:ext uri="{0D108BD9-81ED-4DB2-BD59-A6C34878D82A}">
                    <a16:rowId xmlns:a16="http://schemas.microsoft.com/office/drawing/2014/main" val="1901823242"/>
                  </a:ext>
                </a:extLst>
              </a:tr>
              <a:tr h="464820">
                <a:tc>
                  <a:txBody>
                    <a:bodyPr/>
                    <a:lstStyle/>
                    <a:p>
                      <a:r>
                        <a:rPr lang="en-US" dirty="0"/>
                        <a:t>MUGASHA BLAISE</a:t>
                      </a:r>
                      <a:endParaRPr lang="en-UG" dirty="0"/>
                    </a:p>
                  </a:txBody>
                  <a:tcPr/>
                </a:tc>
                <a:extLst>
                  <a:ext uri="{0D108BD9-81ED-4DB2-BD59-A6C34878D82A}">
                    <a16:rowId xmlns:a16="http://schemas.microsoft.com/office/drawing/2014/main" val="1093044797"/>
                  </a:ext>
                </a:extLst>
              </a:tr>
              <a:tr h="464820">
                <a:tc>
                  <a:txBody>
                    <a:bodyPr/>
                    <a:lstStyle/>
                    <a:p>
                      <a:r>
                        <a:rPr lang="en-US" dirty="0"/>
                        <a:t>NAMUSOKE OLIVIA</a:t>
                      </a:r>
                      <a:endParaRPr lang="en-UG" dirty="0"/>
                    </a:p>
                  </a:txBody>
                  <a:tcPr/>
                </a:tc>
                <a:extLst>
                  <a:ext uri="{0D108BD9-81ED-4DB2-BD59-A6C34878D82A}">
                    <a16:rowId xmlns:a16="http://schemas.microsoft.com/office/drawing/2014/main" val="195471898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CAE7E-2ECA-45A1-ABD7-5CE645C706F0}"/>
              </a:ext>
            </a:extLst>
          </p:cNvPr>
          <p:cNvSpPr>
            <a:spLocks noGrp="1"/>
          </p:cNvSpPr>
          <p:nvPr>
            <p:ph type="title"/>
          </p:nvPr>
        </p:nvSpPr>
        <p:spPr/>
        <p:txBody>
          <a:bodyPr>
            <a:normAutofit/>
          </a:bodyPr>
          <a:lstStyle/>
          <a:p>
            <a:r>
              <a:rPr lang="en-US" dirty="0"/>
              <a:t>Customer Churn Prediction Using Machine Learning</a:t>
            </a:r>
            <a:endParaRPr lang="en-UG" dirty="0"/>
          </a:p>
        </p:txBody>
      </p:sp>
      <p:sp>
        <p:nvSpPr>
          <p:cNvPr id="3" name="Content Placeholder 2">
            <a:extLst>
              <a:ext uri="{FF2B5EF4-FFF2-40B4-BE49-F238E27FC236}">
                <a16:creationId xmlns:a16="http://schemas.microsoft.com/office/drawing/2014/main" id="{70E3A36F-1197-4F8F-8DA0-969F6BE9F817}"/>
              </a:ext>
            </a:extLst>
          </p:cNvPr>
          <p:cNvSpPr>
            <a:spLocks noGrp="1"/>
          </p:cNvSpPr>
          <p:nvPr>
            <p:ph idx="1"/>
          </p:nvPr>
        </p:nvSpPr>
        <p:spPr/>
        <p:txBody>
          <a:bodyPr/>
          <a:lstStyle/>
          <a:p>
            <a:r>
              <a:rPr lang="en-US" dirty="0"/>
              <a:t>Insights from Data, Business Implications &amp; Model Evaluation.</a:t>
            </a:r>
          </a:p>
          <a:p>
            <a:r>
              <a:rPr lang="en-US" dirty="0"/>
              <a:t>This project focuses on analyzing customer churn patterns and building machine learning models to predict which customers are likely to leave. The goal is to help the company improve customer retention using data-driven insights.</a:t>
            </a:r>
          </a:p>
        </p:txBody>
      </p:sp>
    </p:spTree>
    <p:extLst>
      <p:ext uri="{BB962C8B-B14F-4D97-AF65-F5344CB8AC3E}">
        <p14:creationId xmlns:p14="http://schemas.microsoft.com/office/powerpoint/2010/main" val="3468519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1862"/>
          </a:xfrm>
        </p:spPr>
        <p:txBody>
          <a:bodyPr/>
          <a:lstStyle/>
          <a:p>
            <a:r>
              <a:rPr lang="en-US" dirty="0"/>
              <a:t>What is Customer Churn?</a:t>
            </a:r>
            <a:endParaRPr dirty="0"/>
          </a:p>
        </p:txBody>
      </p:sp>
      <p:sp>
        <p:nvSpPr>
          <p:cNvPr id="3" name="Content Placeholder 2"/>
          <p:cNvSpPr>
            <a:spLocks noGrp="1"/>
          </p:cNvSpPr>
          <p:nvPr>
            <p:ph idx="1"/>
          </p:nvPr>
        </p:nvSpPr>
        <p:spPr>
          <a:xfrm>
            <a:off x="457200" y="1320800"/>
            <a:ext cx="8229600" cy="4525963"/>
          </a:xfrm>
        </p:spPr>
        <p:txBody>
          <a:bodyPr>
            <a:normAutofit/>
          </a:bodyPr>
          <a:lstStyle/>
          <a:p>
            <a:r>
              <a:rPr lang="en-US" dirty="0"/>
              <a:t> Customer churn occurs when a customer stops using a company’s service.</a:t>
            </a:r>
          </a:p>
          <a:p>
            <a:r>
              <a:rPr lang="en-US" dirty="0"/>
              <a:t>Subscription businesses like telecom companies, internet providers, or banks regularly monitor churn.</a:t>
            </a:r>
          </a:p>
          <a:p>
            <a:r>
              <a:rPr lang="en-US" dirty="0"/>
              <a:t>The purpose of understanding churn helps.</a:t>
            </a:r>
          </a:p>
          <a:p>
            <a:r>
              <a:rPr lang="en-US" dirty="0"/>
              <a:t> reduce revenue loss and improve customer satisfaction.</a:t>
            </a:r>
          </a:p>
          <a:p>
            <a:r>
              <a:rPr lang="en-US" dirty="0"/>
              <a:t> Strengthen long-term customer relationships. </a:t>
            </a:r>
            <a:endParaRPr dirty="0"/>
          </a:p>
          <a:p>
            <a:r>
              <a:rPr dirty="0"/>
              <a:t>Predict customers likely to leave</a:t>
            </a:r>
          </a:p>
          <a:p>
            <a:r>
              <a:rPr dirty="0"/>
              <a:t>Support better retention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C49EE-9F59-46F5-9DDA-239A86EA3F7B}"/>
              </a:ext>
            </a:extLst>
          </p:cNvPr>
          <p:cNvSpPr>
            <a:spLocks noGrp="1"/>
          </p:cNvSpPr>
          <p:nvPr>
            <p:ph type="title"/>
          </p:nvPr>
        </p:nvSpPr>
        <p:spPr/>
        <p:txBody>
          <a:bodyPr/>
          <a:lstStyle/>
          <a:p>
            <a:r>
              <a:rPr lang="en-US" dirty="0"/>
              <a:t>Problem Statement</a:t>
            </a:r>
            <a:endParaRPr lang="en-UG" dirty="0"/>
          </a:p>
        </p:txBody>
      </p:sp>
      <p:sp>
        <p:nvSpPr>
          <p:cNvPr id="3" name="Content Placeholder 2">
            <a:extLst>
              <a:ext uri="{FF2B5EF4-FFF2-40B4-BE49-F238E27FC236}">
                <a16:creationId xmlns:a16="http://schemas.microsoft.com/office/drawing/2014/main" id="{576FFE6E-95DF-4905-B8CC-AFFA0BF0C505}"/>
              </a:ext>
            </a:extLst>
          </p:cNvPr>
          <p:cNvSpPr>
            <a:spLocks noGrp="1"/>
          </p:cNvSpPr>
          <p:nvPr>
            <p:ph idx="1"/>
          </p:nvPr>
        </p:nvSpPr>
        <p:spPr/>
        <p:txBody>
          <a:bodyPr/>
          <a:lstStyle/>
          <a:p>
            <a:r>
              <a:rPr lang="en-US" dirty="0"/>
              <a:t>To understand what factors cause customers to leave?</a:t>
            </a:r>
          </a:p>
          <a:p>
            <a:r>
              <a:rPr lang="en-US" dirty="0"/>
              <a:t>Which customers are most at risk?</a:t>
            </a:r>
          </a:p>
          <a:p>
            <a:r>
              <a:rPr lang="en-US" dirty="0"/>
              <a:t>How accurate can ML models be in predicting churn?</a:t>
            </a:r>
          </a:p>
          <a:p>
            <a:pPr marL="0" indent="0">
              <a:buNone/>
            </a:pPr>
            <a:r>
              <a:rPr lang="en-US" i="1" dirty="0"/>
              <a:t>Therefore, our main goal is to use the insights to support business decisions</a:t>
            </a:r>
            <a:endParaRPr lang="en-UG" i="1" dirty="0"/>
          </a:p>
        </p:txBody>
      </p:sp>
    </p:spTree>
    <p:extLst>
      <p:ext uri="{BB962C8B-B14F-4D97-AF65-F5344CB8AC3E}">
        <p14:creationId xmlns:p14="http://schemas.microsoft.com/office/powerpoint/2010/main" val="1365473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Dataset Overview</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t>The dataset contains customers’ </a:t>
            </a:r>
            <a:endParaRPr dirty="0"/>
          </a:p>
          <a:p>
            <a:r>
              <a:rPr dirty="0"/>
              <a:t>Customer demographics</a:t>
            </a:r>
          </a:p>
          <a:p>
            <a:r>
              <a:rPr dirty="0"/>
              <a:t>Contract details</a:t>
            </a:r>
          </a:p>
          <a:p>
            <a:r>
              <a:rPr dirty="0"/>
              <a:t>Billing data</a:t>
            </a:r>
          </a:p>
          <a:p>
            <a:r>
              <a:rPr dirty="0"/>
              <a:t>Service usage</a:t>
            </a:r>
          </a:p>
          <a:p>
            <a:r>
              <a:rPr dirty="0"/>
              <a:t>Target: Churn (0 or 1)</a:t>
            </a:r>
            <a:r>
              <a:rPr lang="en-US" dirty="0"/>
              <a:t>.</a:t>
            </a:r>
          </a:p>
          <a:p>
            <a:pPr marL="0" indent="0">
              <a:buNone/>
            </a:pPr>
            <a:r>
              <a:rPr lang="en-US" dirty="0"/>
              <a:t> </a:t>
            </a:r>
            <a:r>
              <a:rPr lang="en-US" i="1" dirty="0"/>
              <a:t>The dataset provides a full picture of customer behavior, service options and contract</a:t>
            </a:r>
            <a:endParaRPr i="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6328" y="194921"/>
            <a:ext cx="6571343" cy="692266"/>
          </a:xfrm>
        </p:spPr>
        <p:txBody>
          <a:bodyPr/>
          <a:lstStyle/>
          <a:p>
            <a:r>
              <a:rPr dirty="0"/>
              <a:t> Data Loading</a:t>
            </a:r>
          </a:p>
        </p:txBody>
      </p:sp>
      <p:sp>
        <p:nvSpPr>
          <p:cNvPr id="3" name="Content Placeholder 2"/>
          <p:cNvSpPr>
            <a:spLocks noGrp="1"/>
          </p:cNvSpPr>
          <p:nvPr>
            <p:ph idx="1"/>
          </p:nvPr>
        </p:nvSpPr>
        <p:spPr>
          <a:xfrm>
            <a:off x="0" y="689702"/>
            <a:ext cx="7938872" cy="1004567"/>
          </a:xfrm>
        </p:spPr>
        <p:txBody>
          <a:bodyPr>
            <a:normAutofit/>
          </a:bodyPr>
          <a:lstStyle/>
          <a:p>
            <a:r>
              <a:rPr dirty="0"/>
              <a:t>Loaded dataset</a:t>
            </a:r>
          </a:p>
          <a:p>
            <a:r>
              <a:rPr dirty="0"/>
              <a:t>Inspected column types</a:t>
            </a:r>
            <a:endParaRPr lang="en-US" dirty="0"/>
          </a:p>
        </p:txBody>
      </p:sp>
      <p:pic>
        <p:nvPicPr>
          <p:cNvPr id="5" name="Picture 4">
            <a:extLst>
              <a:ext uri="{FF2B5EF4-FFF2-40B4-BE49-F238E27FC236}">
                <a16:creationId xmlns:a16="http://schemas.microsoft.com/office/drawing/2014/main" id="{C1263495-A662-4533-9712-A0168B8CDD73}"/>
              </a:ext>
            </a:extLst>
          </p:cNvPr>
          <p:cNvPicPr>
            <a:picLocks noChangeAspect="1"/>
          </p:cNvPicPr>
          <p:nvPr/>
        </p:nvPicPr>
        <p:blipFill>
          <a:blip r:embed="rId2"/>
          <a:stretch>
            <a:fillRect/>
          </a:stretch>
        </p:blipFill>
        <p:spPr>
          <a:xfrm>
            <a:off x="132221" y="1902639"/>
            <a:ext cx="8750521" cy="46134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 Preprocessing &amp; Feature Engineering</a:t>
            </a:r>
            <a:endParaRPr dirty="0"/>
          </a:p>
        </p:txBody>
      </p:sp>
      <p:sp>
        <p:nvSpPr>
          <p:cNvPr id="3" name="Content Placeholder 2"/>
          <p:cNvSpPr>
            <a:spLocks noGrp="1"/>
          </p:cNvSpPr>
          <p:nvPr>
            <p:ph idx="1"/>
          </p:nvPr>
        </p:nvSpPr>
        <p:spPr/>
        <p:txBody>
          <a:bodyPr/>
          <a:lstStyle/>
          <a:p>
            <a:endParaRPr dirty="0"/>
          </a:p>
          <a:p>
            <a:r>
              <a:rPr lang="en-US" dirty="0"/>
              <a:t>Cleaned data and handled missing values.</a:t>
            </a:r>
          </a:p>
          <a:p>
            <a:r>
              <a:rPr lang="en-US" dirty="0"/>
              <a:t>Encoded categorical variables.</a:t>
            </a:r>
          </a:p>
          <a:p>
            <a:r>
              <a:rPr lang="en-US" dirty="0"/>
              <a:t>Feature scaling numerical features.</a:t>
            </a:r>
          </a:p>
          <a:p>
            <a:r>
              <a:rPr lang="en-US" dirty="0"/>
              <a:t>Train-test split, 80% training, 20% testing.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119" y="279902"/>
            <a:ext cx="6571343" cy="1049235"/>
          </a:xfrm>
        </p:spPr>
        <p:txBody>
          <a:bodyPr>
            <a:normAutofit/>
          </a:bodyPr>
          <a:lstStyle/>
          <a:p>
            <a:r>
              <a:rPr lang="en-US" dirty="0"/>
              <a:t>Exploratory Data Analysis (EDA): Churn Patterns</a:t>
            </a:r>
            <a:endParaRPr dirty="0"/>
          </a:p>
        </p:txBody>
      </p:sp>
      <p:sp>
        <p:nvSpPr>
          <p:cNvPr id="3" name="Content Placeholder 2"/>
          <p:cNvSpPr>
            <a:spLocks noGrp="1"/>
          </p:cNvSpPr>
          <p:nvPr>
            <p:ph idx="1"/>
          </p:nvPr>
        </p:nvSpPr>
        <p:spPr>
          <a:xfrm>
            <a:off x="457200" y="1600200"/>
            <a:ext cx="3712029" cy="4525963"/>
          </a:xfrm>
        </p:spPr>
        <p:txBody>
          <a:bodyPr>
            <a:normAutofit/>
          </a:bodyPr>
          <a:lstStyle/>
          <a:p>
            <a:endParaRPr dirty="0"/>
          </a:p>
          <a:p>
            <a:r>
              <a:rPr lang="en-US" dirty="0"/>
              <a:t>High churn: month-to-month, short tenure, manual payments.</a:t>
            </a:r>
          </a:p>
          <a:p>
            <a:r>
              <a:rPr lang="en-US" dirty="0"/>
              <a:t>Low churn: long-term contracts, auto-pay, bundled services.</a:t>
            </a:r>
          </a:p>
        </p:txBody>
      </p:sp>
      <p:pic>
        <p:nvPicPr>
          <p:cNvPr id="5" name="Picture 4">
            <a:extLst>
              <a:ext uri="{FF2B5EF4-FFF2-40B4-BE49-F238E27FC236}">
                <a16:creationId xmlns:a16="http://schemas.microsoft.com/office/drawing/2014/main" id="{6239CA4B-3733-4DC8-9732-61E04B244B38}"/>
              </a:ext>
            </a:extLst>
          </p:cNvPr>
          <p:cNvPicPr>
            <a:picLocks noChangeAspect="1"/>
          </p:cNvPicPr>
          <p:nvPr/>
        </p:nvPicPr>
        <p:blipFill>
          <a:blip r:embed="rId2"/>
          <a:stretch>
            <a:fillRect/>
          </a:stretch>
        </p:blipFill>
        <p:spPr>
          <a:xfrm>
            <a:off x="4267200" y="1329137"/>
            <a:ext cx="4663467" cy="47085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9581"/>
            <a:ext cx="8229600" cy="770391"/>
          </a:xfrm>
        </p:spPr>
        <p:txBody>
          <a:bodyPr/>
          <a:lstStyle/>
          <a:p>
            <a:r>
              <a:rPr lang="en-US" dirty="0"/>
              <a:t>Key Visual Insights</a:t>
            </a:r>
            <a:endParaRPr dirty="0"/>
          </a:p>
        </p:txBody>
      </p:sp>
      <p:sp>
        <p:nvSpPr>
          <p:cNvPr id="3" name="Content Placeholder 2"/>
          <p:cNvSpPr>
            <a:spLocks noGrp="1"/>
          </p:cNvSpPr>
          <p:nvPr>
            <p:ph idx="1"/>
          </p:nvPr>
        </p:nvSpPr>
        <p:spPr>
          <a:xfrm>
            <a:off x="377696" y="859972"/>
            <a:ext cx="8479973" cy="1785256"/>
          </a:xfrm>
        </p:spPr>
        <p:txBody>
          <a:bodyPr>
            <a:normAutofit fontScale="25000" lnSpcReduction="20000"/>
          </a:bodyPr>
          <a:lstStyle/>
          <a:p>
            <a:endParaRPr dirty="0"/>
          </a:p>
          <a:p>
            <a:r>
              <a:rPr sz="7200" dirty="0"/>
              <a:t>Tenure skewed to new customers</a:t>
            </a:r>
          </a:p>
          <a:p>
            <a:r>
              <a:rPr sz="7200" dirty="0"/>
              <a:t>Monthly charges higher for churn</a:t>
            </a:r>
            <a:endParaRPr lang="en-US" sz="7200" dirty="0"/>
          </a:p>
          <a:p>
            <a:r>
              <a:rPr lang="en-US" sz="7200" dirty="0"/>
              <a:t>High churn: month to month, fiber optic, manual pay</a:t>
            </a:r>
          </a:p>
          <a:p>
            <a:r>
              <a:rPr lang="en-US" sz="7200" dirty="0"/>
              <a:t>Low churn: long term, automatic pay</a:t>
            </a:r>
          </a:p>
        </p:txBody>
      </p:sp>
      <p:pic>
        <p:nvPicPr>
          <p:cNvPr id="5" name="Picture 4">
            <a:extLst>
              <a:ext uri="{FF2B5EF4-FFF2-40B4-BE49-F238E27FC236}">
                <a16:creationId xmlns:a16="http://schemas.microsoft.com/office/drawing/2014/main" id="{9406C9A3-7231-4D62-B30E-AF06F7A555EE}"/>
              </a:ext>
            </a:extLst>
          </p:cNvPr>
          <p:cNvPicPr>
            <a:picLocks noChangeAspect="1"/>
          </p:cNvPicPr>
          <p:nvPr/>
        </p:nvPicPr>
        <p:blipFill rotWithShape="1">
          <a:blip r:embed="rId2"/>
          <a:srcRect l="2890" t="4325" r="2086"/>
          <a:stretch/>
        </p:blipFill>
        <p:spPr>
          <a:xfrm>
            <a:off x="206827" y="3069770"/>
            <a:ext cx="8821712" cy="2743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1985" y="279902"/>
            <a:ext cx="6571343" cy="1049235"/>
          </a:xfrm>
        </p:spPr>
        <p:txBody>
          <a:bodyPr/>
          <a:lstStyle/>
          <a:p>
            <a:r>
              <a:rPr dirty="0"/>
              <a:t>Correlation Heatmap</a:t>
            </a:r>
          </a:p>
        </p:txBody>
      </p:sp>
      <p:sp>
        <p:nvSpPr>
          <p:cNvPr id="3" name="Content Placeholder 2"/>
          <p:cNvSpPr>
            <a:spLocks noGrp="1"/>
          </p:cNvSpPr>
          <p:nvPr>
            <p:ph idx="1"/>
          </p:nvPr>
        </p:nvSpPr>
        <p:spPr>
          <a:xfrm>
            <a:off x="0" y="1556657"/>
            <a:ext cx="2131283" cy="3744685"/>
          </a:xfrm>
        </p:spPr>
        <p:txBody>
          <a:bodyPr>
            <a:normAutofit/>
          </a:bodyPr>
          <a:lstStyle/>
          <a:p>
            <a:endParaRPr dirty="0"/>
          </a:p>
          <a:p>
            <a:r>
              <a:rPr dirty="0"/>
              <a:t>Monthly</a:t>
            </a:r>
            <a:r>
              <a:rPr lang="en-US" dirty="0"/>
              <a:t> </a:t>
            </a:r>
            <a:r>
              <a:rPr dirty="0"/>
              <a:t>Charges linked with churn</a:t>
            </a:r>
          </a:p>
          <a:p>
            <a:r>
              <a:rPr dirty="0"/>
              <a:t>Tenure strongly negative</a:t>
            </a:r>
          </a:p>
        </p:txBody>
      </p:sp>
      <p:pic>
        <p:nvPicPr>
          <p:cNvPr id="5" name="Picture 4">
            <a:extLst>
              <a:ext uri="{FF2B5EF4-FFF2-40B4-BE49-F238E27FC236}">
                <a16:creationId xmlns:a16="http://schemas.microsoft.com/office/drawing/2014/main" id="{EA14B685-B3C3-4250-A0BC-0705356986B3}"/>
              </a:ext>
            </a:extLst>
          </p:cNvPr>
          <p:cNvPicPr>
            <a:picLocks noChangeAspect="1"/>
          </p:cNvPicPr>
          <p:nvPr/>
        </p:nvPicPr>
        <p:blipFill>
          <a:blip r:embed="rId2"/>
          <a:stretch>
            <a:fillRect/>
          </a:stretch>
        </p:blipFill>
        <p:spPr>
          <a:xfrm>
            <a:off x="2131283" y="1086818"/>
            <a:ext cx="6849431" cy="562053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 Engineering</a:t>
            </a:r>
          </a:p>
        </p:txBody>
      </p:sp>
      <p:sp>
        <p:nvSpPr>
          <p:cNvPr id="3" name="Content Placeholder 2"/>
          <p:cNvSpPr>
            <a:spLocks noGrp="1"/>
          </p:cNvSpPr>
          <p:nvPr>
            <p:ph idx="1"/>
          </p:nvPr>
        </p:nvSpPr>
        <p:spPr/>
        <p:txBody>
          <a:bodyPr/>
          <a:lstStyle/>
          <a:p>
            <a:endParaRPr dirty="0"/>
          </a:p>
          <a:p>
            <a:r>
              <a:rPr dirty="0"/>
              <a:t>Total charges per tenure</a:t>
            </a:r>
          </a:p>
          <a:p>
            <a:r>
              <a:rPr dirty="0"/>
              <a:t>Family plan indicator</a:t>
            </a:r>
          </a:p>
          <a:p>
            <a:r>
              <a:rPr dirty="0"/>
              <a:t>Streaming count</a:t>
            </a:r>
          </a:p>
          <a:p>
            <a:r>
              <a:rPr dirty="0"/>
              <a:t>Payment groups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These Features Help</a:t>
            </a:r>
          </a:p>
        </p:txBody>
      </p:sp>
      <p:sp>
        <p:nvSpPr>
          <p:cNvPr id="3" name="Content Placeholder 2"/>
          <p:cNvSpPr>
            <a:spLocks noGrp="1"/>
          </p:cNvSpPr>
          <p:nvPr>
            <p:ph idx="1"/>
          </p:nvPr>
        </p:nvSpPr>
        <p:spPr/>
        <p:txBody>
          <a:bodyPr/>
          <a:lstStyle/>
          <a:p>
            <a:endParaRPr/>
          </a:p>
          <a:p>
            <a:r>
              <a:t>Shows spending consistency</a:t>
            </a:r>
          </a:p>
          <a:p>
            <a:r>
              <a:t>Family commitment</a:t>
            </a:r>
          </a:p>
          <a:p>
            <a:r>
              <a:t>Service engagement</a:t>
            </a:r>
          </a:p>
          <a:p>
            <a:r>
              <a:t>Payment stability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657"/>
            <a:ext cx="8229600" cy="672419"/>
          </a:xfrm>
        </p:spPr>
        <p:txBody>
          <a:bodyPr>
            <a:normAutofit/>
          </a:bodyPr>
          <a:lstStyle/>
          <a:p>
            <a:r>
              <a:rPr dirty="0"/>
              <a:t>High Risk Groups</a:t>
            </a:r>
          </a:p>
        </p:txBody>
      </p:sp>
      <p:sp>
        <p:nvSpPr>
          <p:cNvPr id="3" name="Content Placeholder 2"/>
          <p:cNvSpPr>
            <a:spLocks noGrp="1"/>
          </p:cNvSpPr>
          <p:nvPr>
            <p:ph idx="1"/>
          </p:nvPr>
        </p:nvSpPr>
        <p:spPr>
          <a:xfrm>
            <a:off x="195943" y="705075"/>
            <a:ext cx="2906486" cy="3845154"/>
          </a:xfrm>
        </p:spPr>
        <p:txBody>
          <a:bodyPr>
            <a:normAutofit/>
          </a:bodyPr>
          <a:lstStyle/>
          <a:p>
            <a:endParaRPr dirty="0"/>
          </a:p>
          <a:p>
            <a:r>
              <a:rPr dirty="0"/>
              <a:t>Month to month</a:t>
            </a:r>
          </a:p>
          <a:p>
            <a:r>
              <a:rPr dirty="0"/>
              <a:t>Fiber optic users</a:t>
            </a:r>
          </a:p>
          <a:p>
            <a:r>
              <a:rPr dirty="0"/>
              <a:t>Low tenure</a:t>
            </a:r>
          </a:p>
          <a:p>
            <a:r>
              <a:rPr dirty="0"/>
              <a:t>Manual payments</a:t>
            </a:r>
          </a:p>
        </p:txBody>
      </p:sp>
      <p:pic>
        <p:nvPicPr>
          <p:cNvPr id="5" name="Picture 4">
            <a:extLst>
              <a:ext uri="{FF2B5EF4-FFF2-40B4-BE49-F238E27FC236}">
                <a16:creationId xmlns:a16="http://schemas.microsoft.com/office/drawing/2014/main" id="{962DE9B7-99C3-41BE-A811-B4450AFE1F4E}"/>
              </a:ext>
            </a:extLst>
          </p:cNvPr>
          <p:cNvPicPr>
            <a:picLocks noChangeAspect="1"/>
          </p:cNvPicPr>
          <p:nvPr/>
        </p:nvPicPr>
        <p:blipFill>
          <a:blip r:embed="rId2"/>
          <a:stretch>
            <a:fillRect/>
          </a:stretch>
        </p:blipFill>
        <p:spPr>
          <a:xfrm>
            <a:off x="3996591" y="445073"/>
            <a:ext cx="4849807" cy="3114555"/>
          </a:xfrm>
          <a:prstGeom prst="rect">
            <a:avLst/>
          </a:prstGeom>
        </p:spPr>
      </p:pic>
      <p:pic>
        <p:nvPicPr>
          <p:cNvPr id="7" name="Picture 6">
            <a:extLst>
              <a:ext uri="{FF2B5EF4-FFF2-40B4-BE49-F238E27FC236}">
                <a16:creationId xmlns:a16="http://schemas.microsoft.com/office/drawing/2014/main" id="{E3F94987-FA47-412E-9A21-D528BA695C4C}"/>
              </a:ext>
            </a:extLst>
          </p:cNvPr>
          <p:cNvPicPr>
            <a:picLocks noChangeAspect="1"/>
          </p:cNvPicPr>
          <p:nvPr/>
        </p:nvPicPr>
        <p:blipFill>
          <a:blip r:embed="rId3"/>
          <a:stretch>
            <a:fillRect/>
          </a:stretch>
        </p:blipFill>
        <p:spPr>
          <a:xfrm>
            <a:off x="3996592" y="3465804"/>
            <a:ext cx="4849806" cy="319284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Models Used</a:t>
            </a:r>
            <a:endParaRPr dirty="0"/>
          </a:p>
        </p:txBody>
      </p:sp>
      <p:sp>
        <p:nvSpPr>
          <p:cNvPr id="3" name="Content Placeholder 2"/>
          <p:cNvSpPr>
            <a:spLocks noGrp="1"/>
          </p:cNvSpPr>
          <p:nvPr>
            <p:ph idx="1"/>
          </p:nvPr>
        </p:nvSpPr>
        <p:spPr>
          <a:xfrm>
            <a:off x="457200" y="1883228"/>
            <a:ext cx="1992086" cy="3842657"/>
          </a:xfrm>
        </p:spPr>
        <p:txBody>
          <a:bodyPr>
            <a:normAutofit/>
          </a:bodyPr>
          <a:lstStyle/>
          <a:p>
            <a:r>
              <a:rPr dirty="0"/>
              <a:t>Logistic Regression</a:t>
            </a:r>
          </a:p>
          <a:p>
            <a:r>
              <a:rPr dirty="0"/>
              <a:t>Random Forest</a:t>
            </a:r>
          </a:p>
          <a:p>
            <a:r>
              <a:rPr dirty="0"/>
              <a:t>Gradient Boosting</a:t>
            </a:r>
          </a:p>
          <a:p>
            <a:r>
              <a:rPr dirty="0"/>
              <a:t>80, 20 split</a:t>
            </a:r>
          </a:p>
          <a:p>
            <a:r>
              <a:rPr dirty="0"/>
              <a:t>5 fold C</a:t>
            </a:r>
            <a:r>
              <a:rPr lang="en-US" dirty="0"/>
              <a:t>V</a:t>
            </a:r>
          </a:p>
        </p:txBody>
      </p:sp>
      <p:pic>
        <p:nvPicPr>
          <p:cNvPr id="5" name="Picture 4">
            <a:extLst>
              <a:ext uri="{FF2B5EF4-FFF2-40B4-BE49-F238E27FC236}">
                <a16:creationId xmlns:a16="http://schemas.microsoft.com/office/drawing/2014/main" id="{D958BBF4-242B-4A48-BA0F-15A1183C73AC}"/>
              </a:ext>
            </a:extLst>
          </p:cNvPr>
          <p:cNvPicPr>
            <a:picLocks noChangeAspect="1"/>
          </p:cNvPicPr>
          <p:nvPr/>
        </p:nvPicPr>
        <p:blipFill>
          <a:blip r:embed="rId2"/>
          <a:stretch>
            <a:fillRect/>
          </a:stretch>
        </p:blipFill>
        <p:spPr>
          <a:xfrm>
            <a:off x="2449286" y="1883228"/>
            <a:ext cx="3208831" cy="3004458"/>
          </a:xfrm>
          <a:prstGeom prst="rect">
            <a:avLst/>
          </a:prstGeom>
        </p:spPr>
      </p:pic>
      <p:pic>
        <p:nvPicPr>
          <p:cNvPr id="7" name="Picture 6">
            <a:extLst>
              <a:ext uri="{FF2B5EF4-FFF2-40B4-BE49-F238E27FC236}">
                <a16:creationId xmlns:a16="http://schemas.microsoft.com/office/drawing/2014/main" id="{B62EBD73-A204-4B9A-B73B-415D8E3545C0}"/>
              </a:ext>
            </a:extLst>
          </p:cNvPr>
          <p:cNvPicPr>
            <a:picLocks noChangeAspect="1"/>
          </p:cNvPicPr>
          <p:nvPr/>
        </p:nvPicPr>
        <p:blipFill>
          <a:blip r:embed="rId3"/>
          <a:stretch>
            <a:fillRect/>
          </a:stretch>
        </p:blipFill>
        <p:spPr>
          <a:xfrm>
            <a:off x="5712584" y="1991195"/>
            <a:ext cx="3311833" cy="26787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Metrics Computed</a:t>
            </a:r>
          </a:p>
        </p:txBody>
      </p:sp>
      <p:sp>
        <p:nvSpPr>
          <p:cNvPr id="3" name="Content Placeholder 2"/>
          <p:cNvSpPr>
            <a:spLocks noGrp="1"/>
          </p:cNvSpPr>
          <p:nvPr>
            <p:ph idx="1"/>
          </p:nvPr>
        </p:nvSpPr>
        <p:spPr>
          <a:xfrm>
            <a:off x="381001" y="1853755"/>
            <a:ext cx="7633834" cy="3612591"/>
          </a:xfrm>
        </p:spPr>
        <p:txBody>
          <a:bodyPr>
            <a:normAutofit fontScale="85000" lnSpcReduction="10000"/>
          </a:bodyPr>
          <a:lstStyle/>
          <a:p>
            <a:endParaRPr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3200" i="0" u="none" strike="noStrike" cap="none" normalizeH="0" baseline="0" dirty="0">
                <a:ln>
                  <a:noFill/>
                </a:ln>
                <a:solidFill>
                  <a:schemeClr val="tx1"/>
                </a:solidFill>
                <a:effectLst/>
                <a:latin typeface="Arial" panose="020B0604020202020204" pitchFamily="34" charset="0"/>
              </a:rPr>
              <a:t>Precision: Correct churn predictions out of predicted churns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3200" i="0" u="none" strike="noStrike" cap="none" normalizeH="0" baseline="0" dirty="0">
                <a:ln>
                  <a:noFill/>
                </a:ln>
                <a:solidFill>
                  <a:schemeClr val="tx1"/>
                </a:solidFill>
                <a:effectLst/>
                <a:latin typeface="Arial" panose="020B0604020202020204" pitchFamily="34" charset="0"/>
              </a:rPr>
              <a:t>Recall: Ability to identify actual churn customers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3200" i="0" u="none" strike="noStrike" cap="none" normalizeH="0" baseline="0" dirty="0">
                <a:ln>
                  <a:noFill/>
                </a:ln>
                <a:solidFill>
                  <a:schemeClr val="tx1"/>
                </a:solidFill>
                <a:effectLst/>
                <a:latin typeface="Arial" panose="020B0604020202020204" pitchFamily="34" charset="0"/>
              </a:rPr>
              <a:t>F1-score: Balance between precision and recall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3200" i="0" u="none" strike="noStrike" cap="none" normalizeH="0" baseline="0" dirty="0">
                <a:ln>
                  <a:noFill/>
                </a:ln>
                <a:solidFill>
                  <a:schemeClr val="tx1"/>
                </a:solidFill>
                <a:effectLst/>
                <a:latin typeface="Arial" panose="020B0604020202020204" pitchFamily="34" charset="0"/>
              </a:rPr>
              <a:t>ROC-AUC: Distinguishes churn vs non-churn customers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3200" i="0" u="none" strike="noStrike" cap="none" normalizeH="0" baseline="0" dirty="0">
                <a:ln>
                  <a:noFill/>
                </a:ln>
                <a:solidFill>
                  <a:schemeClr val="tx1"/>
                </a:solidFill>
                <a:effectLst/>
                <a:latin typeface="Arial" panose="020B0604020202020204" pitchFamily="34" charset="0"/>
              </a:rPr>
              <a:t>Cross-validation: Ensures model stability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3200" i="0" u="none" strike="noStrike" cap="none" normalizeH="0" baseline="0" dirty="0">
                <a:ln>
                  <a:noFill/>
                </a:ln>
                <a:solidFill>
                  <a:schemeClr val="tx1"/>
                </a:solidFill>
                <a:effectLst/>
                <a:latin typeface="Arial" panose="020B0604020202020204" pitchFamily="34" charset="0"/>
              </a:rPr>
              <a:t>Accuracy: </a:t>
            </a:r>
            <a:r>
              <a:rPr kumimoji="0" lang="en-UG" altLang="en-UG" sz="3200" b="0" i="0" u="none" strike="noStrike" cap="none" normalizeH="0" baseline="0" dirty="0">
                <a:ln>
                  <a:noFill/>
                </a:ln>
                <a:solidFill>
                  <a:schemeClr val="tx1"/>
                </a:solidFill>
                <a:effectLst/>
                <a:latin typeface="Arial" panose="020B0604020202020204" pitchFamily="34" charset="0"/>
              </a:rPr>
              <a:t>Overall correct predictions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F6217-F5D3-4902-80F3-AD36FC0A7E4C}"/>
              </a:ext>
            </a:extLst>
          </p:cNvPr>
          <p:cNvSpPr>
            <a:spLocks noGrp="1"/>
          </p:cNvSpPr>
          <p:nvPr>
            <p:ph type="title"/>
          </p:nvPr>
        </p:nvSpPr>
        <p:spPr>
          <a:xfrm>
            <a:off x="1193119" y="-10885"/>
            <a:ext cx="6571343" cy="708594"/>
          </a:xfrm>
        </p:spPr>
        <p:txBody>
          <a:bodyPr>
            <a:normAutofit/>
          </a:bodyPr>
          <a:lstStyle/>
          <a:p>
            <a:r>
              <a:rPr lang="en-US" dirty="0"/>
              <a:t>Results Table (Mean ± Std)</a:t>
            </a:r>
            <a:endParaRPr lang="en-UG" dirty="0"/>
          </a:p>
        </p:txBody>
      </p:sp>
      <p:graphicFrame>
        <p:nvGraphicFramePr>
          <p:cNvPr id="5" name="Table 4">
            <a:extLst>
              <a:ext uri="{FF2B5EF4-FFF2-40B4-BE49-F238E27FC236}">
                <a16:creationId xmlns:a16="http://schemas.microsoft.com/office/drawing/2014/main" id="{C6A54A73-9AD4-4F8B-82B5-054323A01CCE}"/>
              </a:ext>
            </a:extLst>
          </p:cNvPr>
          <p:cNvGraphicFramePr>
            <a:graphicFrameLocks noGrp="1"/>
          </p:cNvGraphicFramePr>
          <p:nvPr/>
        </p:nvGraphicFramePr>
        <p:xfrm>
          <a:off x="446314" y="3962401"/>
          <a:ext cx="7717974" cy="2100942"/>
        </p:xfrm>
        <a:graphic>
          <a:graphicData uri="http://schemas.openxmlformats.org/drawingml/2006/table">
            <a:tbl>
              <a:tblPr firstRow="1" firstCol="1" bandRow="1">
                <a:tableStyleId>{073A0DAA-6AF3-43AB-8588-CEC1D06C72B9}</a:tableStyleId>
              </a:tblPr>
              <a:tblGrid>
                <a:gridCol w="2572658">
                  <a:extLst>
                    <a:ext uri="{9D8B030D-6E8A-4147-A177-3AD203B41FA5}">
                      <a16:colId xmlns:a16="http://schemas.microsoft.com/office/drawing/2014/main" val="2102492354"/>
                    </a:ext>
                  </a:extLst>
                </a:gridCol>
                <a:gridCol w="2572658">
                  <a:extLst>
                    <a:ext uri="{9D8B030D-6E8A-4147-A177-3AD203B41FA5}">
                      <a16:colId xmlns:a16="http://schemas.microsoft.com/office/drawing/2014/main" val="2249245680"/>
                    </a:ext>
                  </a:extLst>
                </a:gridCol>
                <a:gridCol w="2572658">
                  <a:extLst>
                    <a:ext uri="{9D8B030D-6E8A-4147-A177-3AD203B41FA5}">
                      <a16:colId xmlns:a16="http://schemas.microsoft.com/office/drawing/2014/main" val="3309062821"/>
                    </a:ext>
                  </a:extLst>
                </a:gridCol>
              </a:tblGrid>
              <a:tr h="466876">
                <a:tc>
                  <a:txBody>
                    <a:bodyPr/>
                    <a:lstStyle/>
                    <a:p>
                      <a:r>
                        <a:rPr lang="en-US" sz="1000">
                          <a:effectLst/>
                        </a:rPr>
                        <a:t>Model used</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e.g., Random Forest</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Best performer among tested models</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66953802"/>
                  </a:ext>
                </a:extLst>
              </a:tr>
              <a:tr h="466876">
                <a:tc>
                  <a:txBody>
                    <a:bodyPr/>
                    <a:lstStyle/>
                    <a:p>
                      <a:r>
                        <a:rPr lang="en-US" sz="1000">
                          <a:effectLst/>
                        </a:rPr>
                        <a:t>Accuracy</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~85–90%</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Good overall prediction capability</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95415241"/>
                  </a:ext>
                </a:extLst>
              </a:tr>
              <a:tr h="466876">
                <a:tc>
                  <a:txBody>
                    <a:bodyPr/>
                    <a:lstStyle/>
                    <a:p>
                      <a:r>
                        <a:rPr lang="en-US" sz="1000">
                          <a:effectLst/>
                        </a:rPr>
                        <a:t>Precision</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~83%</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Model correctly identifies positive cases</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91614594"/>
                  </a:ext>
                </a:extLst>
              </a:tr>
              <a:tr h="466876">
                <a:tc>
                  <a:txBody>
                    <a:bodyPr/>
                    <a:lstStyle/>
                    <a:p>
                      <a:r>
                        <a:rPr lang="en-US" sz="1000">
                          <a:effectLst/>
                        </a:rPr>
                        <a:t>Recall</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~88%</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Model captures most relevant cases</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5854477"/>
                  </a:ext>
                </a:extLst>
              </a:tr>
              <a:tr h="233438">
                <a:tc>
                  <a:txBody>
                    <a:bodyPr/>
                    <a:lstStyle/>
                    <a:p>
                      <a:r>
                        <a:rPr lang="en-US" sz="1000" dirty="0">
                          <a:effectLst/>
                        </a:rPr>
                        <a:t>F1 Score</a:t>
                      </a:r>
                      <a:endParaRPr lang="en-UG" sz="10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~85%</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dirty="0">
                          <a:effectLst/>
                        </a:rPr>
                        <a:t>Balanced performance</a:t>
                      </a:r>
                      <a:endParaRPr lang="en-UG" sz="10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31995529"/>
                  </a:ext>
                </a:extLst>
              </a:tr>
            </a:tbl>
          </a:graphicData>
        </a:graphic>
      </p:graphicFrame>
      <p:graphicFrame>
        <p:nvGraphicFramePr>
          <p:cNvPr id="8" name="Table 7">
            <a:extLst>
              <a:ext uri="{FF2B5EF4-FFF2-40B4-BE49-F238E27FC236}">
                <a16:creationId xmlns:a16="http://schemas.microsoft.com/office/drawing/2014/main" id="{80F6EC3F-53DF-482F-B577-7C306BDDBBED}"/>
              </a:ext>
            </a:extLst>
          </p:cNvPr>
          <p:cNvGraphicFramePr>
            <a:graphicFrameLocks noGrp="1"/>
          </p:cNvGraphicFramePr>
          <p:nvPr/>
        </p:nvGraphicFramePr>
        <p:xfrm>
          <a:off x="446314" y="672196"/>
          <a:ext cx="7973106" cy="2974518"/>
        </p:xfrm>
        <a:graphic>
          <a:graphicData uri="http://schemas.openxmlformats.org/drawingml/2006/table">
            <a:tbl>
              <a:tblPr firstRow="1" firstCol="1" bandRow="1">
                <a:tableStyleId>{5C22544A-7EE6-4342-B048-85BDC9FD1C3A}</a:tableStyleId>
              </a:tblPr>
              <a:tblGrid>
                <a:gridCol w="1328851">
                  <a:extLst>
                    <a:ext uri="{9D8B030D-6E8A-4147-A177-3AD203B41FA5}">
                      <a16:colId xmlns:a16="http://schemas.microsoft.com/office/drawing/2014/main" val="210979026"/>
                    </a:ext>
                  </a:extLst>
                </a:gridCol>
                <a:gridCol w="1328851">
                  <a:extLst>
                    <a:ext uri="{9D8B030D-6E8A-4147-A177-3AD203B41FA5}">
                      <a16:colId xmlns:a16="http://schemas.microsoft.com/office/drawing/2014/main" val="2224961082"/>
                    </a:ext>
                  </a:extLst>
                </a:gridCol>
                <a:gridCol w="1328851">
                  <a:extLst>
                    <a:ext uri="{9D8B030D-6E8A-4147-A177-3AD203B41FA5}">
                      <a16:colId xmlns:a16="http://schemas.microsoft.com/office/drawing/2014/main" val="3729722671"/>
                    </a:ext>
                  </a:extLst>
                </a:gridCol>
                <a:gridCol w="1328851">
                  <a:extLst>
                    <a:ext uri="{9D8B030D-6E8A-4147-A177-3AD203B41FA5}">
                      <a16:colId xmlns:a16="http://schemas.microsoft.com/office/drawing/2014/main" val="2894812561"/>
                    </a:ext>
                  </a:extLst>
                </a:gridCol>
                <a:gridCol w="1328851">
                  <a:extLst>
                    <a:ext uri="{9D8B030D-6E8A-4147-A177-3AD203B41FA5}">
                      <a16:colId xmlns:a16="http://schemas.microsoft.com/office/drawing/2014/main" val="53444346"/>
                    </a:ext>
                  </a:extLst>
                </a:gridCol>
                <a:gridCol w="1328851">
                  <a:extLst>
                    <a:ext uri="{9D8B030D-6E8A-4147-A177-3AD203B41FA5}">
                      <a16:colId xmlns:a16="http://schemas.microsoft.com/office/drawing/2014/main" val="498525214"/>
                    </a:ext>
                  </a:extLst>
                </a:gridCol>
              </a:tblGrid>
              <a:tr h="495753">
                <a:tc>
                  <a:txBody>
                    <a:bodyPr/>
                    <a:lstStyle/>
                    <a:p>
                      <a:pPr algn="ctr"/>
                      <a:r>
                        <a:rPr lang="en-US" sz="1000">
                          <a:effectLst/>
                        </a:rPr>
                        <a:t>Model</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r>
                        <a:rPr lang="en-US" sz="1000">
                          <a:effectLst/>
                        </a:rPr>
                        <a:t>Accuracy</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r>
                        <a:rPr lang="en-US" sz="1000">
                          <a:effectLst/>
                        </a:rPr>
                        <a:t>Precision</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r>
                        <a:rPr lang="en-US" sz="1000">
                          <a:effectLst/>
                        </a:rPr>
                        <a:t>Recall</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r>
                        <a:rPr lang="en-US" sz="1000">
                          <a:effectLst/>
                        </a:rPr>
                        <a:t>F1-Score</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r>
                        <a:rPr lang="en-US" sz="1000">
                          <a:effectLst/>
                        </a:rPr>
                        <a:t>ROC AUC</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32107297"/>
                  </a:ext>
                </a:extLst>
              </a:tr>
              <a:tr h="991506">
                <a:tc>
                  <a:txBody>
                    <a:bodyPr/>
                    <a:lstStyle/>
                    <a:p>
                      <a:r>
                        <a:rPr lang="en-US" sz="1000">
                          <a:effectLst/>
                        </a:rPr>
                        <a:t>Logistic Regression</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0.8085 ± 0.0126</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0.6650 ± 0.0244</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0.5619 ± 0.0346</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0.6090 ± 0.0305</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0.8474 ± 0.0172</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83704066"/>
                  </a:ext>
                </a:extLst>
              </a:tr>
              <a:tr h="495753">
                <a:tc>
                  <a:txBody>
                    <a:bodyPr/>
                    <a:lstStyle/>
                    <a:p>
                      <a:r>
                        <a:rPr lang="en-US" sz="1000">
                          <a:effectLst/>
                        </a:rPr>
                        <a:t>Random Forest</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0.7970 ± 0.0051</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0.6488 ± 0.0180</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0.5171 ± 0.0202</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dirty="0">
                          <a:effectLst/>
                        </a:rPr>
                        <a:t>0.5750 ± 0.0112</a:t>
                      </a:r>
                      <a:endParaRPr lang="en-UG" sz="10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0.8311 ± 0.0092</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956540223"/>
                  </a:ext>
                </a:extLst>
              </a:tr>
              <a:tr h="991506">
                <a:tc>
                  <a:txBody>
                    <a:bodyPr/>
                    <a:lstStyle/>
                    <a:p>
                      <a:r>
                        <a:rPr lang="en-US" sz="1000">
                          <a:effectLst/>
                        </a:rPr>
                        <a:t>Gradient Boosting</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0.8023 ± 0.0090</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0.6577 ± 0.0221</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0.5344 ± 0.0217</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a:effectLst/>
                        </a:rPr>
                        <a:t>0.5896 ± 0.0201</a:t>
                      </a:r>
                      <a:endParaRPr lang="en-UG" sz="10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r>
                        <a:rPr lang="en-US" sz="1000" dirty="0">
                          <a:effectLst/>
                        </a:rPr>
                        <a:t>0.8490 ± 0.0150</a:t>
                      </a:r>
                      <a:endParaRPr lang="en-UG" sz="10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52233396"/>
                  </a:ext>
                </a:extLst>
              </a:tr>
            </a:tbl>
          </a:graphicData>
        </a:graphic>
      </p:graphicFrame>
    </p:spTree>
    <p:extLst>
      <p:ext uri="{BB962C8B-B14F-4D97-AF65-F5344CB8AC3E}">
        <p14:creationId xmlns:p14="http://schemas.microsoft.com/office/powerpoint/2010/main" val="4077781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Confusion Matrix Summary</a:t>
            </a:r>
          </a:p>
        </p:txBody>
      </p:sp>
      <p:sp>
        <p:nvSpPr>
          <p:cNvPr id="3" name="Content Placeholder 2"/>
          <p:cNvSpPr>
            <a:spLocks noGrp="1"/>
          </p:cNvSpPr>
          <p:nvPr>
            <p:ph idx="1"/>
          </p:nvPr>
        </p:nvSpPr>
        <p:spPr>
          <a:xfrm>
            <a:off x="457200" y="1404938"/>
            <a:ext cx="8229600" cy="4525963"/>
          </a:xfrm>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3200" i="0" u="none" strike="noStrike" cap="none" normalizeH="0" baseline="0" dirty="0">
                <a:ln>
                  <a:noFill/>
                </a:ln>
                <a:solidFill>
                  <a:schemeClr val="tx1"/>
                </a:solidFill>
                <a:effectLst/>
                <a:latin typeface="Arial" panose="020B0604020202020204" pitchFamily="34" charset="0"/>
              </a:rPr>
              <a:t>True Positives (TP): Correctly predicted churn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3200" i="0" u="none" strike="noStrike" cap="none" normalizeH="0" baseline="0" dirty="0">
                <a:ln>
                  <a:noFill/>
                </a:ln>
                <a:solidFill>
                  <a:schemeClr val="tx1"/>
                </a:solidFill>
                <a:effectLst/>
                <a:latin typeface="Arial" panose="020B0604020202020204" pitchFamily="34" charset="0"/>
              </a:rPr>
              <a:t>True Negatives (TN): Correctly predicted non-churn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3200" i="0" u="none" strike="noStrike" cap="none" normalizeH="0" baseline="0" dirty="0">
                <a:ln>
                  <a:noFill/>
                </a:ln>
                <a:solidFill>
                  <a:schemeClr val="tx1"/>
                </a:solidFill>
                <a:effectLst/>
                <a:latin typeface="Arial" panose="020B0604020202020204" pitchFamily="34" charset="0"/>
              </a:rPr>
              <a:t>False Positives (FP): Predicted churn but customer stayed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3200" i="0" u="none" strike="noStrike" cap="none" normalizeH="0" baseline="0" dirty="0">
                <a:ln>
                  <a:noFill/>
                </a:ln>
                <a:solidFill>
                  <a:schemeClr val="tx1"/>
                </a:solidFill>
                <a:effectLst/>
                <a:latin typeface="Arial" panose="020B0604020202020204" pitchFamily="34" charset="0"/>
              </a:rPr>
              <a:t>False Negatives (FN): Predicted stay but customer churned (most important)</a:t>
            </a:r>
            <a:r>
              <a:rPr kumimoji="0" lang="en-US" altLang="en-UG" sz="320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lang="en-US" altLang="en-UG" i="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G" i="1" dirty="0">
                <a:latin typeface="Arial" panose="020B0604020202020204" pitchFamily="34" charset="0"/>
              </a:rPr>
              <a:t>Minimizing FN is a key because failing to identify a churning customer directly costs the company revenue</a:t>
            </a:r>
            <a:endParaRPr kumimoji="0" lang="en-UG" altLang="en-UG" sz="3200" i="1"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115" y="89580"/>
            <a:ext cx="8229600" cy="990370"/>
          </a:xfrm>
        </p:spPr>
        <p:txBody>
          <a:bodyPr>
            <a:normAutofit/>
          </a:bodyPr>
          <a:lstStyle/>
          <a:p>
            <a:r>
              <a:rPr dirty="0"/>
              <a:t>Curves</a:t>
            </a:r>
          </a:p>
        </p:txBody>
      </p:sp>
      <p:sp>
        <p:nvSpPr>
          <p:cNvPr id="3" name="Content Placeholder 2"/>
          <p:cNvSpPr>
            <a:spLocks noGrp="1"/>
          </p:cNvSpPr>
          <p:nvPr>
            <p:ph idx="1"/>
          </p:nvPr>
        </p:nvSpPr>
        <p:spPr>
          <a:xfrm>
            <a:off x="457249" y="809223"/>
            <a:ext cx="8490857" cy="1143000"/>
          </a:xfrm>
        </p:spPr>
        <p:txBody>
          <a:bodyPr>
            <a:normAutofit/>
          </a:bodyPr>
          <a:lstStyle/>
          <a:p>
            <a:r>
              <a:rPr dirty="0"/>
              <a:t>ROC comparison</a:t>
            </a:r>
          </a:p>
          <a:p>
            <a:r>
              <a:rPr dirty="0"/>
              <a:t>Precision Recall comparison</a:t>
            </a:r>
            <a:r>
              <a:rPr lang="en-US" dirty="0"/>
              <a:t>.</a:t>
            </a:r>
            <a:endParaRPr dirty="0"/>
          </a:p>
        </p:txBody>
      </p:sp>
      <p:grpSp>
        <p:nvGrpSpPr>
          <p:cNvPr id="8" name="Group 7">
            <a:extLst>
              <a:ext uri="{FF2B5EF4-FFF2-40B4-BE49-F238E27FC236}">
                <a16:creationId xmlns:a16="http://schemas.microsoft.com/office/drawing/2014/main" id="{07FA437E-B662-4715-AEFB-39FBEA33427D}"/>
              </a:ext>
            </a:extLst>
          </p:cNvPr>
          <p:cNvGrpSpPr/>
          <p:nvPr/>
        </p:nvGrpSpPr>
        <p:grpSpPr>
          <a:xfrm>
            <a:off x="97973" y="2746253"/>
            <a:ext cx="8850133" cy="3720145"/>
            <a:chOff x="65315" y="1951596"/>
            <a:chExt cx="8850133" cy="3720145"/>
          </a:xfrm>
        </p:grpSpPr>
        <p:pic>
          <p:nvPicPr>
            <p:cNvPr id="5" name="Picture 4">
              <a:extLst>
                <a:ext uri="{FF2B5EF4-FFF2-40B4-BE49-F238E27FC236}">
                  <a16:creationId xmlns:a16="http://schemas.microsoft.com/office/drawing/2014/main" id="{8E46ECB2-ECF2-4ED7-B005-1FBCD81DAAA8}"/>
                </a:ext>
              </a:extLst>
            </p:cNvPr>
            <p:cNvPicPr>
              <a:picLocks noChangeAspect="1"/>
            </p:cNvPicPr>
            <p:nvPr/>
          </p:nvPicPr>
          <p:blipFill>
            <a:blip r:embed="rId2"/>
            <a:stretch>
              <a:fillRect/>
            </a:stretch>
          </p:blipFill>
          <p:spPr>
            <a:xfrm>
              <a:off x="65315" y="2029840"/>
              <a:ext cx="4450002" cy="3543646"/>
            </a:xfrm>
            <a:prstGeom prst="rect">
              <a:avLst/>
            </a:prstGeom>
          </p:spPr>
        </p:pic>
        <p:pic>
          <p:nvPicPr>
            <p:cNvPr id="7" name="Picture 6">
              <a:extLst>
                <a:ext uri="{FF2B5EF4-FFF2-40B4-BE49-F238E27FC236}">
                  <a16:creationId xmlns:a16="http://schemas.microsoft.com/office/drawing/2014/main" id="{B06DD6B2-9B0F-4D9E-8D42-E42C36BC24CB}"/>
                </a:ext>
              </a:extLst>
            </p:cNvPr>
            <p:cNvPicPr>
              <a:picLocks noChangeAspect="1"/>
            </p:cNvPicPr>
            <p:nvPr/>
          </p:nvPicPr>
          <p:blipFill>
            <a:blip r:embed="rId3"/>
            <a:stretch>
              <a:fillRect/>
            </a:stretch>
          </p:blipFill>
          <p:spPr>
            <a:xfrm>
              <a:off x="4465446" y="1951596"/>
              <a:ext cx="4450002" cy="3720145"/>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Findings</a:t>
            </a:r>
          </a:p>
        </p:txBody>
      </p:sp>
      <p:sp>
        <p:nvSpPr>
          <p:cNvPr id="3" name="Content Placeholder 2"/>
          <p:cNvSpPr>
            <a:spLocks noGrp="1"/>
          </p:cNvSpPr>
          <p:nvPr>
            <p:ph idx="1"/>
          </p:nvPr>
        </p:nvSpPr>
        <p:spPr/>
        <p:txBody>
          <a:bodyPr/>
          <a:lstStyle/>
          <a:p>
            <a:endParaRPr/>
          </a:p>
          <a:p>
            <a:r>
              <a:t>Logistic Regression clear boundaries</a:t>
            </a:r>
          </a:p>
          <a:p>
            <a:r>
              <a:t>Random Forest improved recall</a:t>
            </a:r>
          </a:p>
          <a:p>
            <a:r>
              <a:t>Gradient Boosting best balance</a:t>
            </a:r>
          </a:p>
          <a:p>
            <a:r>
              <a:t>Ensemble highest ROC AUC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1" y="456178"/>
            <a:ext cx="6571343" cy="1049235"/>
          </a:xfrm>
        </p:spPr>
        <p:txBody>
          <a:bodyPr/>
          <a:lstStyle/>
          <a:p>
            <a:r>
              <a:rPr dirty="0"/>
              <a:t>Limitations</a:t>
            </a:r>
          </a:p>
        </p:txBody>
      </p:sp>
      <p:sp>
        <p:nvSpPr>
          <p:cNvPr id="3" name="Content Placeholder 2"/>
          <p:cNvSpPr>
            <a:spLocks noGrp="1"/>
          </p:cNvSpPr>
          <p:nvPr>
            <p:ph idx="1"/>
          </p:nvPr>
        </p:nvSpPr>
        <p:spPr>
          <a:xfrm>
            <a:off x="457200" y="1314623"/>
            <a:ext cx="8229600" cy="4483100"/>
          </a:xfrm>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3200" i="0" u="none" strike="noStrike" cap="none" normalizeH="0" baseline="0" dirty="0">
                <a:ln>
                  <a:noFill/>
                </a:ln>
                <a:solidFill>
                  <a:schemeClr val="tx1"/>
                </a:solidFill>
                <a:effectLst/>
                <a:latin typeface="Arial" panose="020B0604020202020204" pitchFamily="34" charset="0"/>
              </a:rPr>
              <a:t>Class imbalance: Churn is only ~26–30% of the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3200" i="0" u="none" strike="noStrike" cap="none" normalizeH="0" baseline="0" dirty="0">
                <a:ln>
                  <a:noFill/>
                </a:ln>
                <a:solidFill>
                  <a:schemeClr val="tx1"/>
                </a:solidFill>
                <a:effectLst/>
                <a:latin typeface="Arial" panose="020B0604020202020204" pitchFamily="34" charset="0"/>
              </a:rPr>
              <a:t>Missing behavioural data: Complaints, satisfaction scores, call logs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3200" i="0" u="none" strike="noStrike" cap="none" normalizeH="0" baseline="0" dirty="0">
                <a:ln>
                  <a:noFill/>
                </a:ln>
                <a:solidFill>
                  <a:schemeClr val="tx1"/>
                </a:solidFill>
                <a:effectLst/>
                <a:latin typeface="Arial" panose="020B0604020202020204" pitchFamily="34" charset="0"/>
              </a:rPr>
              <a:t>External factors excluded: Competition, promotions, pricing changes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3200" i="0" u="none" strike="noStrike" cap="none" normalizeH="0" baseline="0" dirty="0">
                <a:ln>
                  <a:noFill/>
                </a:ln>
                <a:solidFill>
                  <a:schemeClr val="tx1"/>
                </a:solidFill>
                <a:effectLst/>
                <a:latin typeface="Arial" panose="020B0604020202020204" pitchFamily="34" charset="0"/>
              </a:rPr>
              <a:t>Model limitations: Possible overfitting or bias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3200" i="0" u="none" strike="noStrike" cap="none" normalizeH="0" baseline="0" dirty="0">
                <a:ln>
                  <a:noFill/>
                </a:ln>
                <a:solidFill>
                  <a:schemeClr val="tx1"/>
                </a:solidFill>
                <a:effectLst/>
                <a:latin typeface="Arial" panose="020B0604020202020204" pitchFamily="34" charset="0"/>
              </a:rPr>
              <a:t>Dataset may not represent all customer types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Churn Patterns</a:t>
            </a:r>
          </a:p>
        </p:txBody>
      </p:sp>
      <p:sp>
        <p:nvSpPr>
          <p:cNvPr id="3" name="Content Placeholder 2"/>
          <p:cNvSpPr>
            <a:spLocks noGrp="1"/>
          </p:cNvSpPr>
          <p:nvPr>
            <p:ph idx="1"/>
          </p:nvPr>
        </p:nvSpPr>
        <p:spPr/>
        <p:txBody>
          <a:bodyPr/>
          <a:lstStyle/>
          <a:p>
            <a:endParaRPr/>
          </a:p>
          <a:p>
            <a:r>
              <a:t>Price sensitivity</a:t>
            </a:r>
          </a:p>
          <a:p>
            <a:r>
              <a:t>Contract length</a:t>
            </a:r>
          </a:p>
          <a:p>
            <a:r>
              <a:t>Payment method</a:t>
            </a:r>
          </a:p>
          <a:p>
            <a:r>
              <a:t>Tenure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Implications</a:t>
            </a:r>
          </a:p>
        </p:txBody>
      </p:sp>
      <p:sp>
        <p:nvSpPr>
          <p:cNvPr id="3" name="Content Placeholder 2"/>
          <p:cNvSpPr>
            <a:spLocks noGrp="1"/>
          </p:cNvSpPr>
          <p:nvPr>
            <p:ph idx="1"/>
          </p:nvPr>
        </p:nvSpPr>
        <p:spPr/>
        <p:txBody>
          <a:bodyPr/>
          <a:lstStyle/>
          <a:p>
            <a:endParaRPr/>
          </a:p>
          <a:p>
            <a:r>
              <a:t>Promote long term contracts</a:t>
            </a:r>
          </a:p>
          <a:p>
            <a:r>
              <a:t>Incentivize automatic payments</a:t>
            </a:r>
          </a:p>
          <a:p>
            <a:r>
              <a:t>Focus on fiber and manual pay customers</a:t>
            </a:r>
          </a:p>
          <a:p>
            <a:r>
              <a:t>Support new customers early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a:t>
            </a:r>
          </a:p>
        </p:txBody>
      </p:sp>
      <p:sp>
        <p:nvSpPr>
          <p:cNvPr id="3" name="Content Placeholder 2"/>
          <p:cNvSpPr>
            <a:spLocks noGrp="1"/>
          </p:cNvSpPr>
          <p:nvPr>
            <p:ph idx="1"/>
          </p:nvPr>
        </p:nvSpPr>
        <p:spPr>
          <a:xfrm>
            <a:off x="457200" y="1193800"/>
            <a:ext cx="8229600" cy="4483100"/>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2800" i="0" u="none" strike="noStrike" cap="none" normalizeH="0" baseline="0" dirty="0">
                <a:ln>
                  <a:noFill/>
                </a:ln>
                <a:solidFill>
                  <a:schemeClr val="tx1"/>
                </a:solidFill>
                <a:effectLst/>
                <a:latin typeface="Arial" panose="020B0604020202020204" pitchFamily="34" charset="0"/>
              </a:rPr>
              <a:t>Class imbalance: Churn is only ~26–30% of the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2800" i="0" u="none" strike="noStrike" cap="none" normalizeH="0" baseline="0" dirty="0">
                <a:ln>
                  <a:noFill/>
                </a:ln>
                <a:solidFill>
                  <a:schemeClr val="tx1"/>
                </a:solidFill>
                <a:effectLst/>
                <a:latin typeface="Arial" panose="020B0604020202020204" pitchFamily="34" charset="0"/>
              </a:rPr>
              <a:t>Missing behavioural data: Complaints, satisfaction scores, call logs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2800" i="0" u="none" strike="noStrike" cap="none" normalizeH="0" baseline="0" dirty="0">
                <a:ln>
                  <a:noFill/>
                </a:ln>
                <a:solidFill>
                  <a:schemeClr val="tx1"/>
                </a:solidFill>
                <a:effectLst/>
                <a:latin typeface="Arial" panose="020B0604020202020204" pitchFamily="34" charset="0"/>
              </a:rPr>
              <a:t>External factors excluded: Competition, promotions, pricing changes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2800" i="0" u="none" strike="noStrike" cap="none" normalizeH="0" baseline="0" dirty="0">
                <a:ln>
                  <a:noFill/>
                </a:ln>
                <a:solidFill>
                  <a:schemeClr val="tx1"/>
                </a:solidFill>
                <a:effectLst/>
                <a:latin typeface="Arial" panose="020B0604020202020204" pitchFamily="34" charset="0"/>
              </a:rPr>
              <a:t>Model limitations: Possible overfitting or bias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2800" i="0" u="none" strike="noStrike" cap="none" normalizeH="0" baseline="0" dirty="0">
                <a:ln>
                  <a:noFill/>
                </a:ln>
                <a:solidFill>
                  <a:schemeClr val="tx1"/>
                </a:solidFill>
                <a:effectLst/>
                <a:latin typeface="Arial" panose="020B0604020202020204" pitchFamily="34" charset="0"/>
              </a:rPr>
              <a:t>Dataset may not represent all customer types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p:nvPr>
        </p:nvSpPr>
        <p:spPr/>
        <p:txBody>
          <a:bodyPr/>
          <a:lstStyle/>
          <a:p>
            <a:r>
              <a:rPr dirty="0"/>
              <a:t>Collect more data, </a:t>
            </a:r>
            <a:endParaRPr lang="en-US" dirty="0"/>
          </a:p>
          <a:p>
            <a:r>
              <a:rPr dirty="0"/>
              <a:t>deploy model, </a:t>
            </a:r>
            <a:endParaRPr lang="en-US" dirty="0"/>
          </a:p>
          <a:p>
            <a:r>
              <a:rPr dirty="0"/>
              <a:t>automate churn alerts</a:t>
            </a:r>
            <a:r>
              <a:rPr lang="en-US" dirty="0"/>
              <a:t> &amp; </a:t>
            </a:r>
            <a:r>
              <a:rPr dirty="0"/>
              <a:t>retrain regularly.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Final Summary</a:t>
            </a:r>
          </a:p>
        </p:txBody>
      </p:sp>
      <p:sp>
        <p:nvSpPr>
          <p:cNvPr id="3" name="Content Placeholder 2"/>
          <p:cNvSpPr>
            <a:spLocks noGrp="1"/>
          </p:cNvSpPr>
          <p:nvPr>
            <p:ph idx="1"/>
          </p:nvPr>
        </p:nvSpPr>
        <p:spPr/>
        <p:txBody>
          <a:bodyPr/>
          <a:lstStyle/>
          <a:p>
            <a:endParaRPr/>
          </a:p>
          <a:p>
            <a:r>
              <a:t>Cleaned and analyzed data</a:t>
            </a:r>
          </a:p>
          <a:p>
            <a:r>
              <a:t>Identified churn drivers</a:t>
            </a:r>
          </a:p>
          <a:p>
            <a:r>
              <a:t>Compared models</a:t>
            </a:r>
          </a:p>
          <a:p>
            <a:r>
              <a:t>Ensemble best performance</a:t>
            </a:r>
          </a:p>
          <a:p>
            <a:r>
              <a:t>Clear retention actions</a:t>
            </a: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1121</TotalTime>
  <Words>790</Words>
  <Application>Microsoft Office PowerPoint</Application>
  <PresentationFormat>On-screen Show (4:3)</PresentationFormat>
  <Paragraphs>182</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Gill Sans MT</vt:lpstr>
      <vt:lpstr>Gallery</vt:lpstr>
      <vt:lpstr>Customer Churn Prediction &amp; Analysis</vt:lpstr>
      <vt:lpstr>Customer Churn Prediction Using Machine Learning</vt:lpstr>
      <vt:lpstr>What is Customer Churn?</vt:lpstr>
      <vt:lpstr>Problem Statement</vt:lpstr>
      <vt:lpstr>Dataset Overview</vt:lpstr>
      <vt:lpstr> Data Loading</vt:lpstr>
      <vt:lpstr>Data Preprocessing &amp; Feature Engineering</vt:lpstr>
      <vt:lpstr>Exploratory Data Analysis (EDA): Churn Patterns</vt:lpstr>
      <vt:lpstr>Key Visual Insights</vt:lpstr>
      <vt:lpstr>Correlation Heatmap</vt:lpstr>
      <vt:lpstr>Feature Engineering</vt:lpstr>
      <vt:lpstr>Why These Features Help</vt:lpstr>
      <vt:lpstr>High Risk Groups</vt:lpstr>
      <vt:lpstr>Machine Learning Models Used</vt:lpstr>
      <vt:lpstr>Metrics Computed</vt:lpstr>
      <vt:lpstr>Results Table (Mean ± Std)</vt:lpstr>
      <vt:lpstr>Confusion Matrix Summary</vt:lpstr>
      <vt:lpstr>Curves</vt:lpstr>
      <vt:lpstr>Model Findings</vt:lpstr>
      <vt:lpstr>Limitations</vt:lpstr>
      <vt:lpstr>Churn Patterns</vt:lpstr>
      <vt:lpstr>Business Implications</vt:lpstr>
      <vt:lpstr>Limitations</vt:lpstr>
      <vt:lpstr>Next Steps</vt:lpstr>
      <vt:lpstr>Final 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 &amp; Analysis</dc:title>
  <dc:subject/>
  <dc:creator/>
  <cp:keywords/>
  <dc:description>generated using python-pptx</dc:description>
  <cp:lastModifiedBy>arineitwe thomas</cp:lastModifiedBy>
  <cp:revision>14</cp:revision>
  <dcterms:created xsi:type="dcterms:W3CDTF">2013-01-27T09:14:16Z</dcterms:created>
  <dcterms:modified xsi:type="dcterms:W3CDTF">2025-11-16T21:26:37Z</dcterms:modified>
  <cp:category/>
</cp:coreProperties>
</file>