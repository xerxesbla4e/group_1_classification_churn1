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6" r:id="rId2"/>
    <p:sldId id="277" r:id="rId3"/>
    <p:sldId id="258" r:id="rId4"/>
    <p:sldId id="259" r:id="rId5"/>
    <p:sldId id="27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9" r:id="rId18"/>
    <p:sldId id="271" r:id="rId19"/>
    <p:sldId id="272" r:id="rId20"/>
    <p:sldId id="273" r:id="rId21"/>
    <p:sldId id="280" r:id="rId22"/>
    <p:sldId id="274" r:id="rId23"/>
    <p:sldId id="275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42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36000">
              <a:schemeClr val="accent1">
                <a:lumMod val="45000"/>
                <a:lumOff val="55000"/>
              </a:schemeClr>
            </a:gs>
            <a:gs pos="69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F8A5A7-0B2B-478D-BA19-EFE9D306A1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1500" y="1510393"/>
            <a:ext cx="8001000" cy="1470025"/>
          </a:xfrm>
        </p:spPr>
        <p:txBody>
          <a:bodyPr>
            <a:normAutofit fontScale="90000"/>
          </a:bodyPr>
          <a:lstStyle/>
          <a:p>
            <a:r>
              <a:rPr lang="en-US" dirty="0"/>
              <a:t>Customer Segmentation — Mall Customers Dataset Using K-Means &amp; Hierarchical Clustering</a:t>
            </a:r>
            <a:endParaRPr lang="en-UG" dirty="0"/>
          </a:p>
        </p:txBody>
      </p:sp>
      <p:pic>
        <p:nvPicPr>
          <p:cNvPr id="2050" name="Picture 2" descr="Uganda Martyrs University UMU Logo PNG Vector (PDF) Free ...">
            <a:extLst>
              <a:ext uri="{FF2B5EF4-FFF2-40B4-BE49-F238E27FC236}">
                <a16:creationId xmlns:a16="http://schemas.microsoft.com/office/drawing/2014/main" id="{41AA87DD-5C07-46D5-843C-B6B2F6B366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2862" y="0"/>
            <a:ext cx="1438275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DA74C5CE-B820-4934-9252-5D99A0FE43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5240906"/>
              </p:ext>
            </p:extLst>
          </p:nvPr>
        </p:nvGraphicFramePr>
        <p:xfrm>
          <a:off x="571499" y="3301999"/>
          <a:ext cx="8147958" cy="2045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3979">
                  <a:extLst>
                    <a:ext uri="{9D8B030D-6E8A-4147-A177-3AD203B41FA5}">
                      <a16:colId xmlns:a16="http://schemas.microsoft.com/office/drawing/2014/main" val="3794548668"/>
                    </a:ext>
                  </a:extLst>
                </a:gridCol>
                <a:gridCol w="4073979">
                  <a:extLst>
                    <a:ext uri="{9D8B030D-6E8A-4147-A177-3AD203B41FA5}">
                      <a16:colId xmlns:a16="http://schemas.microsoft.com/office/drawing/2014/main" val="1267203309"/>
                    </a:ext>
                  </a:extLst>
                </a:gridCol>
              </a:tblGrid>
              <a:tr h="511402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REG NO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529602"/>
                  </a:ext>
                </a:extLst>
              </a:tr>
              <a:tr h="511402">
                <a:tc>
                  <a:txBody>
                    <a:bodyPr/>
                    <a:lstStyle/>
                    <a:p>
                      <a:r>
                        <a:rPr lang="en-US" dirty="0"/>
                        <a:t>ARINEITWE THOMAS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2024-MI32-24196 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9962239"/>
                  </a:ext>
                </a:extLst>
              </a:tr>
              <a:tr h="511402">
                <a:tc>
                  <a:txBody>
                    <a:bodyPr/>
                    <a:lstStyle/>
                    <a:p>
                      <a:r>
                        <a:rPr lang="en-US" dirty="0"/>
                        <a:t>MUGASHA BLAISE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2024-M132-23976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3025201"/>
                  </a:ext>
                </a:extLst>
              </a:tr>
              <a:tr h="511402">
                <a:tc>
                  <a:txBody>
                    <a:bodyPr/>
                    <a:lstStyle/>
                    <a:p>
                      <a:r>
                        <a:rPr lang="en-US" dirty="0"/>
                        <a:t>NAMUSOKE OLIVIA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1407426"/>
                  </a:ext>
                </a:extLst>
              </a:tr>
            </a:tbl>
          </a:graphicData>
        </a:graphic>
      </p:graphicFrame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3EB56208-53EB-4604-975D-A485F5438F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2404655"/>
              </p:ext>
            </p:extLst>
          </p:nvPr>
        </p:nvGraphicFramePr>
        <p:xfrm>
          <a:off x="2623457" y="5827486"/>
          <a:ext cx="6096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3972">
                  <a:extLst>
                    <a:ext uri="{9D8B030D-6E8A-4147-A177-3AD203B41FA5}">
                      <a16:colId xmlns:a16="http://schemas.microsoft.com/office/drawing/2014/main" val="295251646"/>
                    </a:ext>
                  </a:extLst>
                </a:gridCol>
                <a:gridCol w="3712028">
                  <a:extLst>
                    <a:ext uri="{9D8B030D-6E8A-4147-A177-3AD203B41FA5}">
                      <a16:colId xmlns:a16="http://schemas.microsoft.com/office/drawing/2014/main" val="34704203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INSTRUCTOR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DR. HARRIET SIBITENDA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99793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5537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16747-394A-4F17-AC5D-6C5B9319D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D31C4-A879-4FE6-9C09-CA613A66C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70038"/>
            <a:ext cx="8229600" cy="332853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This notebook implements a complete clustering analysis comparing K-means and Hierarchical clustering methods on the Mall Customers dataset. </a:t>
            </a:r>
          </a:p>
          <a:p>
            <a:r>
              <a:rPr lang="en-US" b="1" dirty="0"/>
              <a:t>Goal</a:t>
            </a:r>
            <a:r>
              <a:rPr lang="en-US" dirty="0"/>
              <a:t>: Understand customer behaviors through clustering.</a:t>
            </a:r>
          </a:p>
          <a:p>
            <a:r>
              <a:rPr lang="en-US" b="1" dirty="0"/>
              <a:t>Why</a:t>
            </a:r>
            <a:r>
              <a:rPr lang="en-US" dirty="0"/>
              <a:t>? Improve marketing accuracy &amp; customer targeting.</a:t>
            </a:r>
          </a:p>
          <a:p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1011913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Retailers lack deep insights into customer diversity.</a:t>
            </a:r>
          </a:p>
          <a:p>
            <a:r>
              <a:rPr dirty="0"/>
              <a:t>One-size-fits-all strategies fail.</a:t>
            </a:r>
          </a:p>
          <a:p>
            <a:r>
              <a:rPr dirty="0"/>
              <a:t>Need segmentation for personalized marketing.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858" y="1461181"/>
            <a:ext cx="2688772" cy="4504190"/>
          </a:xfr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sz="2400" dirty="0"/>
              <a:t>Dataset: Mall_Customers.csv</a:t>
            </a:r>
          </a:p>
          <a:p>
            <a:r>
              <a:rPr sz="2400" dirty="0"/>
              <a:t>200 customers, 5 variables.</a:t>
            </a:r>
          </a:p>
          <a:p>
            <a:r>
              <a:rPr sz="2400" dirty="0"/>
              <a:t>Features: </a:t>
            </a:r>
            <a:r>
              <a:rPr sz="2400" dirty="0" err="1"/>
              <a:t>CustomerID</a:t>
            </a:r>
            <a:r>
              <a:rPr sz="2400" dirty="0"/>
              <a:t>, Genre, Age, Annual Income, Spending Score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BEF7B3-7BAD-4A3F-A98D-4A00194330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2998" y="1461181"/>
            <a:ext cx="5881516" cy="369645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9E57A-2695-4B8D-920D-CF7D7F716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6667"/>
            <a:ext cx="8229600" cy="781276"/>
          </a:xfrm>
        </p:spPr>
        <p:txBody>
          <a:bodyPr>
            <a:noAutofit/>
          </a:bodyPr>
          <a:lstStyle/>
          <a:p>
            <a:r>
              <a:rPr lang="en-US" sz="3600" dirty="0"/>
              <a:t> preprocessing (method + quick results)</a:t>
            </a:r>
            <a:endParaRPr lang="en-UG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87202-0063-4AA8-920A-ED79B6AA14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1705"/>
            <a:ext cx="8229600" cy="1423533"/>
          </a:xfrm>
          <a:ln w="6350">
            <a:solidFill>
              <a:schemeClr val="tx1"/>
            </a:solidFill>
          </a:ln>
        </p:spPr>
        <p:txBody>
          <a:bodyPr>
            <a:normAutofit fontScale="85000" lnSpcReduction="10000"/>
          </a:bodyPr>
          <a:lstStyle/>
          <a:p>
            <a:r>
              <a:rPr lang="en-US" dirty="0"/>
              <a:t>No duplicates, no missing values.</a:t>
            </a:r>
          </a:p>
          <a:p>
            <a:r>
              <a:rPr lang="en-US" dirty="0"/>
              <a:t>Created reproducible cleaned copy (</a:t>
            </a:r>
            <a:r>
              <a:rPr lang="en-US" dirty="0" err="1"/>
              <a:t>random_state</a:t>
            </a:r>
            <a:r>
              <a:rPr lang="en-US" dirty="0"/>
              <a:t>=42).</a:t>
            </a:r>
          </a:p>
          <a:p>
            <a:r>
              <a:rPr lang="en-US" dirty="0" err="1"/>
              <a:t>StandardScaler</a:t>
            </a:r>
            <a:r>
              <a:rPr lang="en-US" dirty="0"/>
              <a:t> applied; encoded Gender.</a:t>
            </a:r>
          </a:p>
          <a:p>
            <a:pPr marL="0" indent="0">
              <a:buNone/>
            </a:pPr>
            <a:endParaRPr lang="en-U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47E15C-0E0A-4405-B39A-FEC3A402D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624" y="3429000"/>
            <a:ext cx="7780589" cy="2618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909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009"/>
            <a:ext cx="8229600" cy="781277"/>
          </a:xfrm>
        </p:spPr>
        <p:txBody>
          <a:bodyPr/>
          <a:lstStyle/>
          <a:p>
            <a:r>
              <a:rPr dirty="0"/>
              <a:t>Feature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055914"/>
            <a:ext cx="8327571" cy="3363685"/>
          </a:xfrm>
          <a:ln w="9525"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dirty="0" err="1"/>
              <a:t>CustomerID</a:t>
            </a:r>
            <a:r>
              <a:rPr dirty="0"/>
              <a:t>: identifier (removed).</a:t>
            </a:r>
          </a:p>
          <a:p>
            <a:r>
              <a:rPr dirty="0"/>
              <a:t>Genre: Male/Female.</a:t>
            </a:r>
          </a:p>
          <a:p>
            <a:r>
              <a:rPr dirty="0"/>
              <a:t>Age: 18–70 range.</a:t>
            </a:r>
          </a:p>
          <a:p>
            <a:r>
              <a:rPr dirty="0"/>
              <a:t>Income: in k$.</a:t>
            </a:r>
          </a:p>
          <a:p>
            <a:r>
              <a:rPr dirty="0"/>
              <a:t>Spending Score: 1–100 scale.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Initial Observations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06287"/>
            <a:ext cx="7347857" cy="1600199"/>
          </a:xfrm>
          <a:ln w="12700">
            <a:solidFill>
              <a:schemeClr val="tx1"/>
            </a:solidFill>
          </a:ln>
        </p:spPr>
        <p:txBody>
          <a:bodyPr>
            <a:normAutofit fontScale="62500" lnSpcReduction="20000"/>
          </a:bodyPr>
          <a:lstStyle/>
          <a:p>
            <a:endParaRPr dirty="0"/>
          </a:p>
          <a:p>
            <a:r>
              <a:rPr dirty="0"/>
              <a:t>No missing data.</a:t>
            </a:r>
          </a:p>
          <a:p>
            <a:r>
              <a:rPr dirty="0"/>
              <a:t>No duplicates.</a:t>
            </a:r>
          </a:p>
          <a:p>
            <a:r>
              <a:rPr dirty="0"/>
              <a:t>Balanced gender distribution.</a:t>
            </a:r>
          </a:p>
          <a:p>
            <a:r>
              <a:rPr dirty="0"/>
              <a:t>Wide variation in spending behavior.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7E629B-C8C1-4AD5-B1C0-595094D80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11758"/>
            <a:ext cx="8183117" cy="298174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47057"/>
          </a:xfrm>
        </p:spPr>
        <p:txBody>
          <a:bodyPr/>
          <a:lstStyle/>
          <a:p>
            <a:r>
              <a:rPr dirty="0"/>
              <a:t>EDA: Summary Stats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49086"/>
            <a:ext cx="8229600" cy="1360714"/>
          </a:xfrm>
          <a:ln w="9525">
            <a:solidFill>
              <a:schemeClr val="tx1"/>
            </a:solidFill>
          </a:ln>
        </p:spPr>
        <p:txBody>
          <a:bodyPr>
            <a:normAutofit fontScale="62500" lnSpcReduction="20000"/>
          </a:bodyPr>
          <a:lstStyle/>
          <a:p>
            <a:r>
              <a:rPr dirty="0"/>
              <a:t>Age: mid-30s median.</a:t>
            </a:r>
          </a:p>
          <a:p>
            <a:r>
              <a:rPr dirty="0"/>
              <a:t>Income: median ~60k.</a:t>
            </a:r>
          </a:p>
          <a:p>
            <a:r>
              <a:rPr dirty="0"/>
              <a:t>Spending Score: wide variance.</a:t>
            </a:r>
          </a:p>
          <a:p>
            <a:r>
              <a:rPr dirty="0"/>
              <a:t>Genre distribution: ~56% Female.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3B2ECB-10C3-49AA-93AC-E800E75528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12132"/>
            <a:ext cx="7696200" cy="436292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1913"/>
            <a:ext cx="8229600" cy="672419"/>
          </a:xfrm>
        </p:spPr>
        <p:txBody>
          <a:bodyPr>
            <a:normAutofit fontScale="90000"/>
          </a:bodyPr>
          <a:lstStyle/>
          <a:p>
            <a:r>
              <a:rPr dirty="0"/>
              <a:t>Histograms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46591"/>
            <a:ext cx="8229600" cy="1472066"/>
          </a:xfrm>
          <a:ln w="19050">
            <a:solidFill>
              <a:schemeClr val="tx1"/>
            </a:solidFill>
          </a:ln>
        </p:spPr>
        <p:txBody>
          <a:bodyPr>
            <a:normAutofit fontScale="85000" lnSpcReduction="10000"/>
          </a:bodyPr>
          <a:lstStyle/>
          <a:p>
            <a:r>
              <a:rPr dirty="0"/>
              <a:t>Age moderately uniform.</a:t>
            </a:r>
          </a:p>
          <a:p>
            <a:r>
              <a:rPr dirty="0"/>
              <a:t>Income right-skewed.</a:t>
            </a:r>
          </a:p>
          <a:p>
            <a:r>
              <a:rPr dirty="0"/>
              <a:t>Spending Score bimodal → indicates natural clusters.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76DA91-F5A2-4432-A375-483CD1E29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74775"/>
            <a:ext cx="8882743" cy="379336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57199"/>
          </a:xfrm>
        </p:spPr>
        <p:txBody>
          <a:bodyPr>
            <a:normAutofit fontScale="90000"/>
          </a:bodyPr>
          <a:lstStyle/>
          <a:p>
            <a:r>
              <a:rPr dirty="0"/>
              <a:t>Boxplot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838199"/>
            <a:ext cx="8229600" cy="1600201"/>
          </a:xfrm>
          <a:ln w="12700">
            <a:solidFill>
              <a:schemeClr val="tx1"/>
            </a:solidFill>
          </a:ln>
        </p:spPr>
        <p:txBody>
          <a:bodyPr>
            <a:normAutofit fontScale="85000" lnSpcReduction="20000"/>
          </a:bodyPr>
          <a:lstStyle/>
          <a:p>
            <a:r>
              <a:rPr dirty="0"/>
              <a:t>Income has outliers on high end.</a:t>
            </a:r>
          </a:p>
          <a:p>
            <a:r>
              <a:rPr dirty="0"/>
              <a:t>Age compact distribution.</a:t>
            </a:r>
          </a:p>
          <a:p>
            <a:r>
              <a:rPr dirty="0"/>
              <a:t>Spending Score shows strong variance (good for clustering).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6FF8BB-490A-4E6B-90BD-193F93024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88623"/>
            <a:ext cx="9144000" cy="293117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36000">
              <a:schemeClr val="accent1">
                <a:lumMod val="45000"/>
                <a:lumOff val="55000"/>
              </a:schemeClr>
            </a:gs>
            <a:gs pos="69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9942"/>
            <a:ext cx="8229600" cy="389391"/>
          </a:xfrm>
        </p:spPr>
        <p:txBody>
          <a:bodyPr>
            <a:noAutofit/>
          </a:bodyPr>
          <a:lstStyle/>
          <a:p>
            <a:r>
              <a:rPr sz="3200" dirty="0"/>
              <a:t>Pair Plot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1513" y="469333"/>
            <a:ext cx="1741715" cy="3732553"/>
          </a:xfrm>
          <a:ln w="12700">
            <a:solidFill>
              <a:schemeClr val="tx1"/>
            </a:solidFill>
          </a:ln>
        </p:spPr>
        <p:txBody>
          <a:bodyPr>
            <a:normAutofit fontScale="55000" lnSpcReduction="20000"/>
          </a:bodyPr>
          <a:lstStyle/>
          <a:p>
            <a:r>
              <a:rPr dirty="0"/>
              <a:t>Age ↓ Spending ↑ (moderate negative correlation).</a:t>
            </a:r>
          </a:p>
          <a:p>
            <a:r>
              <a:rPr dirty="0"/>
              <a:t>Distinct clusters in Income vs Spending.</a:t>
            </a:r>
          </a:p>
          <a:p>
            <a:r>
              <a:rPr dirty="0"/>
              <a:t>Age vs Income weak relationship.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F6A646-B46E-47A5-B1EC-61146789B4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0559" y="469333"/>
            <a:ext cx="5964984" cy="62019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5781"/>
            <a:ext cx="8229600" cy="457199"/>
          </a:xfrm>
        </p:spPr>
        <p:txBody>
          <a:bodyPr>
            <a:noAutofit/>
          </a:bodyPr>
          <a:lstStyle/>
          <a:p>
            <a:r>
              <a:rPr sz="3200" dirty="0"/>
              <a:t>Correlation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1514" y="968828"/>
            <a:ext cx="1937657" cy="2699657"/>
          </a:xfrm>
        </p:spPr>
        <p:txBody>
          <a:bodyPr>
            <a:normAutofit fontScale="55000" lnSpcReduction="20000"/>
          </a:bodyPr>
          <a:lstStyle/>
          <a:p>
            <a:r>
              <a:rPr dirty="0"/>
              <a:t>Age &amp; Spending Score: -0.33.</a:t>
            </a:r>
          </a:p>
          <a:p>
            <a:r>
              <a:rPr dirty="0"/>
              <a:t>Income &amp; Spending Score: ~0 (unexpected).</a:t>
            </a:r>
          </a:p>
          <a:p>
            <a:r>
              <a:rPr dirty="0"/>
              <a:t>Result: Clusters exist but not linear correlations.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AED0DE-1C26-46F8-83EB-E029A228E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5971" y="968828"/>
            <a:ext cx="6470829" cy="529500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3124"/>
            <a:ext cx="8229600" cy="737733"/>
          </a:xfrm>
        </p:spPr>
        <p:txBody>
          <a:bodyPr>
            <a:normAutofit fontScale="90000"/>
          </a:bodyPr>
          <a:lstStyle/>
          <a:p>
            <a:r>
              <a:rPr dirty="0"/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2"/>
            <a:ext cx="8229600" cy="1632856"/>
          </a:xfrm>
          <a:ln w="19050">
            <a:solidFill>
              <a:schemeClr val="tx1"/>
            </a:solidFill>
          </a:ln>
        </p:spPr>
        <p:txBody>
          <a:bodyPr>
            <a:normAutofit fontScale="85000" lnSpcReduction="20000"/>
          </a:bodyPr>
          <a:lstStyle/>
          <a:p>
            <a:r>
              <a:rPr dirty="0"/>
              <a:t>Created </a:t>
            </a:r>
            <a:r>
              <a:rPr dirty="0" err="1"/>
              <a:t>Income_to_Spend</a:t>
            </a:r>
            <a:r>
              <a:rPr dirty="0"/>
              <a:t> ratio.</a:t>
            </a:r>
          </a:p>
          <a:p>
            <a:r>
              <a:rPr dirty="0"/>
              <a:t>Created </a:t>
            </a:r>
            <a:r>
              <a:rPr dirty="0" err="1"/>
              <a:t>AgeGroup</a:t>
            </a:r>
            <a:r>
              <a:rPr dirty="0"/>
              <a:t> categories.</a:t>
            </a:r>
          </a:p>
          <a:p>
            <a:r>
              <a:rPr dirty="0"/>
              <a:t>Purpose: Enhance interpretability &amp; cluster separability.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7D1D17-CA70-404E-ACF3-7E3A46396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75857"/>
            <a:ext cx="8466962" cy="345077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t>Preprocessing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8991"/>
            <a:ext cx="8229600" cy="1317171"/>
          </a:xfrm>
          <a:ln w="12700">
            <a:solidFill>
              <a:schemeClr val="tx1"/>
            </a:solidFill>
          </a:ln>
        </p:spPr>
        <p:txBody>
          <a:bodyPr>
            <a:normAutofit fontScale="62500" lnSpcReduction="20000"/>
          </a:bodyPr>
          <a:lstStyle/>
          <a:p>
            <a:r>
              <a:rPr dirty="0"/>
              <a:t>Used </a:t>
            </a:r>
            <a:r>
              <a:rPr dirty="0" err="1"/>
              <a:t>ColumnTransformer</a:t>
            </a:r>
            <a:r>
              <a:rPr dirty="0"/>
              <a:t>.</a:t>
            </a:r>
          </a:p>
          <a:p>
            <a:r>
              <a:rPr dirty="0"/>
              <a:t>Scaled </a:t>
            </a:r>
            <a:r>
              <a:rPr dirty="0" err="1"/>
              <a:t>numerics</a:t>
            </a:r>
            <a:r>
              <a:rPr dirty="0"/>
              <a:t> (</a:t>
            </a:r>
            <a:r>
              <a:rPr dirty="0" err="1"/>
              <a:t>StandardScaler</a:t>
            </a:r>
            <a:r>
              <a:rPr dirty="0"/>
              <a:t>).</a:t>
            </a:r>
          </a:p>
          <a:p>
            <a:r>
              <a:rPr dirty="0"/>
              <a:t>One-hot encoded Genre &amp; </a:t>
            </a:r>
            <a:r>
              <a:rPr dirty="0" err="1"/>
              <a:t>AgeGroup</a:t>
            </a:r>
            <a:r>
              <a:rPr dirty="0"/>
              <a:t>.</a:t>
            </a:r>
          </a:p>
          <a:p>
            <a:r>
              <a:rPr dirty="0"/>
              <a:t>Created final </a:t>
            </a:r>
            <a:r>
              <a:rPr dirty="0" err="1"/>
              <a:t>df_clustering</a:t>
            </a:r>
            <a:r>
              <a:rPr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A2266E-BE30-488B-BD7A-C856DB7B84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744" y="2368096"/>
            <a:ext cx="6596742" cy="438903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dirty="0"/>
              <a:t>K-Means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968829"/>
          </a:xfrm>
          <a:ln w="12700">
            <a:solidFill>
              <a:schemeClr val="tx1"/>
            </a:solidFill>
          </a:ln>
        </p:spPr>
        <p:txBody>
          <a:bodyPr>
            <a:normAutofit fontScale="47500" lnSpcReduction="20000"/>
          </a:bodyPr>
          <a:lstStyle/>
          <a:p>
            <a:r>
              <a:rPr dirty="0"/>
              <a:t>k tested from 2–8.</a:t>
            </a:r>
          </a:p>
          <a:p>
            <a:r>
              <a:rPr dirty="0"/>
              <a:t>Best Silhouette: k=7 (0.33).</a:t>
            </a:r>
          </a:p>
          <a:p>
            <a:r>
              <a:rPr dirty="0"/>
              <a:t>Lowest DB Index: k=7 (0.97).</a:t>
            </a:r>
          </a:p>
          <a:p>
            <a:r>
              <a:rPr dirty="0"/>
              <a:t>Strong CH Score at k=6–7.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89A175-22DF-4EDE-BE1D-D3B2FFD83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674" y="2079171"/>
            <a:ext cx="3008799" cy="4504191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7446774-03F0-4666-A3B8-FB86F2A6B1EC}"/>
              </a:ext>
            </a:extLst>
          </p:cNvPr>
          <p:cNvCxnSpPr/>
          <p:nvPr/>
        </p:nvCxnSpPr>
        <p:spPr>
          <a:xfrm>
            <a:off x="4354286" y="1992086"/>
            <a:ext cx="0" cy="4713514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7C68F060-4E10-4E09-AA6E-5F213E870B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079171"/>
            <a:ext cx="3960548" cy="435428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13933"/>
          </a:xfrm>
        </p:spPr>
        <p:txBody>
          <a:bodyPr/>
          <a:lstStyle/>
          <a:p>
            <a:r>
              <a:t>Hierarchical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3914" y="674915"/>
            <a:ext cx="8229600" cy="2351314"/>
          </a:xfrm>
        </p:spPr>
        <p:txBody>
          <a:bodyPr>
            <a:normAutofit fontScale="85000" lnSpcReduction="20000"/>
          </a:bodyPr>
          <a:lstStyle/>
          <a:p>
            <a:r>
              <a:rPr dirty="0"/>
              <a:t>Ward linkage used.</a:t>
            </a:r>
          </a:p>
          <a:p>
            <a:r>
              <a:rPr dirty="0"/>
              <a:t>Dendrogram indicates 6–8 clusters.</a:t>
            </a:r>
            <a:endParaRPr lang="en-US" dirty="0"/>
          </a:p>
          <a:p>
            <a:r>
              <a:rPr lang="en-US" dirty="0"/>
              <a:t>K-means vs Hierarchical. Both methods show similar ranges for silhouette (best around k=6–7); K-means at k=7 gave slightly better DB and CH scores in notebook outputs.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7D0594-1309-4F42-92D2-6007736E36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19" y="3649193"/>
            <a:ext cx="8574881" cy="291489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0EF03-F8F2-44E3-BE93-AEC3B151A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076676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3600" dirty="0"/>
              <a:t>Metrics similar to K-Means: optimal around k=7.</a:t>
            </a:r>
            <a:br>
              <a:rPr lang="en-US" sz="3600" dirty="0"/>
            </a:br>
            <a:r>
              <a:rPr lang="en-US" sz="3600" dirty="0"/>
              <a:t>Metrics similar to K-Means: optimal around k=7.</a:t>
            </a:r>
            <a:endParaRPr lang="en-UG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F0198C-E581-4D03-9EA6-D4DDEC010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44492"/>
            <a:ext cx="8948057" cy="2921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9445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228" y="0"/>
            <a:ext cx="8229600" cy="672419"/>
          </a:xfrm>
        </p:spPr>
        <p:txBody>
          <a:bodyPr>
            <a:normAutofit fontScale="90000"/>
          </a:bodyPr>
          <a:lstStyle/>
          <a:p>
            <a:r>
              <a:rPr dirty="0"/>
              <a:t>Model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5172" y="672419"/>
            <a:ext cx="8229600" cy="1099456"/>
          </a:xfrm>
        </p:spPr>
        <p:txBody>
          <a:bodyPr>
            <a:normAutofit fontScale="70000" lnSpcReduction="20000"/>
          </a:bodyPr>
          <a:lstStyle/>
          <a:p>
            <a:r>
              <a:rPr dirty="0"/>
              <a:t>Both methods peak at k=7.</a:t>
            </a:r>
          </a:p>
          <a:p>
            <a:r>
              <a:rPr dirty="0"/>
              <a:t>Silhouette, DB, CH all support k=7.</a:t>
            </a:r>
          </a:p>
          <a:p>
            <a:r>
              <a:rPr dirty="0"/>
              <a:t>K-Means slightly more stable.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D2DE8D-81ED-494C-8E17-AD882DD41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470" y="1771874"/>
            <a:ext cx="8371115" cy="508612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Chosen Solution: k=7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1229"/>
            <a:ext cx="8229600" cy="1761227"/>
          </a:xfrm>
          <a:ln w="12700">
            <a:solidFill>
              <a:schemeClr val="tx1"/>
            </a:solidFill>
          </a:ln>
        </p:spPr>
        <p:txBody>
          <a:bodyPr/>
          <a:lstStyle/>
          <a:p>
            <a:r>
              <a:rPr dirty="0"/>
              <a:t>7 clusters selected.</a:t>
            </a:r>
          </a:p>
          <a:p>
            <a:r>
              <a:rPr dirty="0"/>
              <a:t>Strong separation &amp; cohesion.</a:t>
            </a:r>
          </a:p>
          <a:p>
            <a:r>
              <a:rPr dirty="0"/>
              <a:t>Balanced interpretability &amp; performance.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86D392-925B-44D9-84B8-22CF0CFAA4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576" y="3067703"/>
            <a:ext cx="7896710" cy="351565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 Insights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Includes: high-income low-spend segment.</a:t>
            </a:r>
          </a:p>
          <a:p>
            <a:r>
              <a:t>Low-income high-spend group.</a:t>
            </a:r>
          </a:p>
          <a:p>
            <a:r>
              <a:t>Young adults with high scores.</a:t>
            </a:r>
          </a:p>
          <a:p>
            <a:r>
              <a:t>Older adults with moderate spendings.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79AF2-C36A-41E8-9131-1B206B18E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57199"/>
          </a:xfrm>
        </p:spPr>
        <p:txBody>
          <a:bodyPr>
            <a:normAutofit fontScale="90000"/>
          </a:bodyPr>
          <a:lstStyle/>
          <a:p>
            <a:r>
              <a:rPr lang="en-US" dirty="0"/>
              <a:t>Cluster Centroids (Means)</a:t>
            </a:r>
            <a:endParaRPr lang="en-UG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1E69EC6-3E50-45D3-AF58-1F1859873F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0560710"/>
              </p:ext>
            </p:extLst>
          </p:nvPr>
        </p:nvGraphicFramePr>
        <p:xfrm>
          <a:off x="370115" y="918338"/>
          <a:ext cx="8403770" cy="2302384"/>
        </p:xfrm>
        <a:graphic>
          <a:graphicData uri="http://schemas.openxmlformats.org/drawingml/2006/table">
            <a:tbl>
              <a:tblPr firstRow="1" firstCol="1" bandRow="1">
                <a:tableStyleId>{616DA210-FB5B-4158-B5E0-FEB733F419BA}</a:tableStyleId>
              </a:tblPr>
              <a:tblGrid>
                <a:gridCol w="1680754">
                  <a:extLst>
                    <a:ext uri="{9D8B030D-6E8A-4147-A177-3AD203B41FA5}">
                      <a16:colId xmlns:a16="http://schemas.microsoft.com/office/drawing/2014/main" val="3122113818"/>
                    </a:ext>
                  </a:extLst>
                </a:gridCol>
                <a:gridCol w="1680754">
                  <a:extLst>
                    <a:ext uri="{9D8B030D-6E8A-4147-A177-3AD203B41FA5}">
                      <a16:colId xmlns:a16="http://schemas.microsoft.com/office/drawing/2014/main" val="2844191715"/>
                    </a:ext>
                  </a:extLst>
                </a:gridCol>
                <a:gridCol w="1624150">
                  <a:extLst>
                    <a:ext uri="{9D8B030D-6E8A-4147-A177-3AD203B41FA5}">
                      <a16:colId xmlns:a16="http://schemas.microsoft.com/office/drawing/2014/main" val="3701596302"/>
                    </a:ext>
                  </a:extLst>
                </a:gridCol>
                <a:gridCol w="1737358">
                  <a:extLst>
                    <a:ext uri="{9D8B030D-6E8A-4147-A177-3AD203B41FA5}">
                      <a16:colId xmlns:a16="http://schemas.microsoft.com/office/drawing/2014/main" val="915386606"/>
                    </a:ext>
                  </a:extLst>
                </a:gridCol>
                <a:gridCol w="1680754">
                  <a:extLst>
                    <a:ext uri="{9D8B030D-6E8A-4147-A177-3AD203B41FA5}">
                      <a16:colId xmlns:a16="http://schemas.microsoft.com/office/drawing/2014/main" val="661459964"/>
                    </a:ext>
                  </a:extLst>
                </a:gridCol>
              </a:tblGrid>
              <a:tr h="28779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G" sz="1200">
                          <a:effectLst/>
                        </a:rPr>
                        <a:t>Cluster</a:t>
                      </a:r>
                      <a:endParaRPr lang="en-UG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G" sz="1200">
                          <a:effectLst/>
                        </a:rPr>
                        <a:t>Age (Mean)</a:t>
                      </a:r>
                      <a:endParaRPr lang="en-UG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G" sz="1200">
                          <a:effectLst/>
                        </a:rPr>
                        <a:t>Annual Income (k$)</a:t>
                      </a:r>
                      <a:endParaRPr lang="en-UG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G" sz="1200">
                          <a:effectLst/>
                        </a:rPr>
                        <a:t>Spending Score</a:t>
                      </a:r>
                      <a:endParaRPr lang="en-UG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G" sz="1200">
                          <a:effectLst/>
                        </a:rPr>
                        <a:t>Income_to_Spend</a:t>
                      </a:r>
                      <a:endParaRPr lang="en-UG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93618218"/>
                  </a:ext>
                </a:extLst>
              </a:tr>
              <a:tr h="28779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G" sz="1200">
                          <a:effectLst/>
                        </a:rPr>
                        <a:t>0</a:t>
                      </a:r>
                      <a:endParaRPr lang="en-UG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G" sz="1200">
                          <a:effectLst/>
                        </a:rPr>
                        <a:t>59.95</a:t>
                      </a:r>
                      <a:endParaRPr lang="en-UG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G" sz="1200">
                          <a:effectLst/>
                        </a:rPr>
                        <a:t>49.15</a:t>
                      </a:r>
                      <a:endParaRPr lang="en-UG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G" sz="1200">
                          <a:effectLst/>
                        </a:rPr>
                        <a:t>41.82</a:t>
                      </a:r>
                      <a:endParaRPr lang="en-UG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G" sz="1200">
                          <a:effectLst/>
                        </a:rPr>
                        <a:t>1.7596</a:t>
                      </a:r>
                      <a:endParaRPr lang="en-UG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09149327"/>
                  </a:ext>
                </a:extLst>
              </a:tr>
              <a:tr h="28779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G" sz="1200">
                          <a:effectLst/>
                        </a:rPr>
                        <a:t>1</a:t>
                      </a:r>
                      <a:endParaRPr lang="en-UG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G" sz="1200">
                          <a:effectLst/>
                        </a:rPr>
                        <a:t>44.07</a:t>
                      </a:r>
                      <a:endParaRPr lang="en-UG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G" sz="1200">
                          <a:effectLst/>
                        </a:rPr>
                        <a:t>91.74</a:t>
                      </a:r>
                      <a:endParaRPr lang="en-UG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G" sz="1200">
                          <a:effectLst/>
                        </a:rPr>
                        <a:t>19.44</a:t>
                      </a:r>
                      <a:endParaRPr lang="en-UG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G" sz="1200">
                          <a:effectLst/>
                        </a:rPr>
                        <a:t>5.9422</a:t>
                      </a:r>
                      <a:endParaRPr lang="en-UG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19282041"/>
                  </a:ext>
                </a:extLst>
              </a:tr>
              <a:tr h="28779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G" sz="1200">
                          <a:effectLst/>
                        </a:rPr>
                        <a:t>2</a:t>
                      </a:r>
                      <a:endParaRPr lang="en-UG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G" sz="1200">
                          <a:effectLst/>
                        </a:rPr>
                        <a:t>41.10</a:t>
                      </a:r>
                      <a:endParaRPr lang="en-UG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G" sz="1200">
                          <a:effectLst/>
                        </a:rPr>
                        <a:t>45.32</a:t>
                      </a:r>
                      <a:endParaRPr lang="en-UG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G" sz="1200">
                          <a:effectLst/>
                        </a:rPr>
                        <a:t>41.44</a:t>
                      </a:r>
                      <a:endParaRPr lang="en-UG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G" sz="1200">
                          <a:effectLst/>
                        </a:rPr>
                        <a:t>1.2785</a:t>
                      </a:r>
                      <a:endParaRPr lang="en-UG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10808406"/>
                  </a:ext>
                </a:extLst>
              </a:tr>
              <a:tr h="28779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G" sz="1200">
                          <a:effectLst/>
                        </a:rPr>
                        <a:t>3</a:t>
                      </a:r>
                      <a:endParaRPr lang="en-UG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G" sz="1200">
                          <a:effectLst/>
                        </a:rPr>
                        <a:t>35.50</a:t>
                      </a:r>
                      <a:endParaRPr lang="en-UG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G" sz="1200">
                          <a:effectLst/>
                        </a:rPr>
                        <a:t>78.00</a:t>
                      </a:r>
                      <a:endParaRPr lang="en-UG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G" sz="1200">
                          <a:effectLst/>
                        </a:rPr>
                        <a:t>1.00</a:t>
                      </a:r>
                      <a:endParaRPr lang="en-UG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G" sz="1200">
                          <a:effectLst/>
                        </a:rPr>
                        <a:t>78.0000</a:t>
                      </a:r>
                      <a:endParaRPr lang="en-UG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28890926"/>
                  </a:ext>
                </a:extLst>
              </a:tr>
              <a:tr h="28779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G" sz="1200">
                          <a:effectLst/>
                        </a:rPr>
                        <a:t>4</a:t>
                      </a:r>
                      <a:endParaRPr lang="en-UG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G" sz="1200">
                          <a:effectLst/>
                        </a:rPr>
                        <a:t>32.69</a:t>
                      </a:r>
                      <a:endParaRPr lang="en-UG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G" sz="1200">
                          <a:effectLst/>
                        </a:rPr>
                        <a:t>86.54</a:t>
                      </a:r>
                      <a:endParaRPr lang="en-UG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G" sz="1200">
                          <a:effectLst/>
                        </a:rPr>
                        <a:t>82.13</a:t>
                      </a:r>
                      <a:endParaRPr lang="en-UG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G" sz="1200">
                          <a:effectLst/>
                        </a:rPr>
                        <a:t>1.0683</a:t>
                      </a:r>
                      <a:endParaRPr lang="en-UG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39339564"/>
                  </a:ext>
                </a:extLst>
              </a:tr>
              <a:tr h="28779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G" sz="1200">
                          <a:effectLst/>
                        </a:rPr>
                        <a:t>5</a:t>
                      </a:r>
                      <a:endParaRPr lang="en-UG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G" sz="1200">
                          <a:effectLst/>
                        </a:rPr>
                        <a:t>24.55</a:t>
                      </a:r>
                      <a:endParaRPr lang="en-UG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G" sz="1200">
                          <a:effectLst/>
                        </a:rPr>
                        <a:t>25.14</a:t>
                      </a:r>
                      <a:endParaRPr lang="en-UG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G" sz="1200">
                          <a:effectLst/>
                        </a:rPr>
                        <a:t>78.36</a:t>
                      </a:r>
                      <a:endParaRPr lang="en-UG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G" sz="1200">
                          <a:effectLst/>
                        </a:rPr>
                        <a:t>0.3277</a:t>
                      </a:r>
                      <a:endParaRPr lang="en-UG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72787654"/>
                  </a:ext>
                </a:extLst>
              </a:tr>
              <a:tr h="28779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G" sz="1200">
                          <a:effectLst/>
                        </a:rPr>
                        <a:t>6</a:t>
                      </a:r>
                      <a:endParaRPr lang="en-UG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G" sz="1200">
                          <a:effectLst/>
                        </a:rPr>
                        <a:t>22.37</a:t>
                      </a:r>
                      <a:endParaRPr lang="en-UG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G" sz="1200">
                          <a:effectLst/>
                        </a:rPr>
                        <a:t>59.20</a:t>
                      </a:r>
                      <a:endParaRPr lang="en-UG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G" sz="1200">
                          <a:effectLst/>
                        </a:rPr>
                        <a:t>41.87</a:t>
                      </a:r>
                      <a:endParaRPr lang="en-UG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G" sz="1200" dirty="0">
                          <a:effectLst/>
                        </a:rPr>
                        <a:t>2.6156</a:t>
                      </a:r>
                      <a:endParaRPr lang="en-UG" sz="1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61293279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9847B088-EED3-4A59-BEA4-733B5F8D6BEF}"/>
              </a:ext>
            </a:extLst>
          </p:cNvPr>
          <p:cNvSpPr txBox="1">
            <a:spLocks/>
          </p:cNvSpPr>
          <p:nvPr/>
        </p:nvSpPr>
        <p:spPr>
          <a:xfrm>
            <a:off x="174172" y="3429000"/>
            <a:ext cx="8229600" cy="4571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0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Cluster Standard Deviations</a:t>
            </a:r>
            <a:endParaRPr lang="en-UG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3D3854D-53EE-47B1-AF85-B0F81048FF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0635732"/>
              </p:ext>
            </p:extLst>
          </p:nvPr>
        </p:nvGraphicFramePr>
        <p:xfrm>
          <a:off x="283030" y="3845557"/>
          <a:ext cx="8403770" cy="2775856"/>
        </p:xfrm>
        <a:graphic>
          <a:graphicData uri="http://schemas.openxmlformats.org/drawingml/2006/table">
            <a:tbl>
              <a:tblPr firstRow="1" firstCol="1" bandRow="1">
                <a:tableStyleId>{616DA210-FB5B-4158-B5E0-FEB733F419BA}</a:tableStyleId>
              </a:tblPr>
              <a:tblGrid>
                <a:gridCol w="1680754">
                  <a:extLst>
                    <a:ext uri="{9D8B030D-6E8A-4147-A177-3AD203B41FA5}">
                      <a16:colId xmlns:a16="http://schemas.microsoft.com/office/drawing/2014/main" val="3675018728"/>
                    </a:ext>
                  </a:extLst>
                </a:gridCol>
                <a:gridCol w="1680754">
                  <a:extLst>
                    <a:ext uri="{9D8B030D-6E8A-4147-A177-3AD203B41FA5}">
                      <a16:colId xmlns:a16="http://schemas.microsoft.com/office/drawing/2014/main" val="4174543527"/>
                    </a:ext>
                  </a:extLst>
                </a:gridCol>
                <a:gridCol w="1680754">
                  <a:extLst>
                    <a:ext uri="{9D8B030D-6E8A-4147-A177-3AD203B41FA5}">
                      <a16:colId xmlns:a16="http://schemas.microsoft.com/office/drawing/2014/main" val="3470404908"/>
                    </a:ext>
                  </a:extLst>
                </a:gridCol>
                <a:gridCol w="1680754">
                  <a:extLst>
                    <a:ext uri="{9D8B030D-6E8A-4147-A177-3AD203B41FA5}">
                      <a16:colId xmlns:a16="http://schemas.microsoft.com/office/drawing/2014/main" val="1437597969"/>
                    </a:ext>
                  </a:extLst>
                </a:gridCol>
                <a:gridCol w="1680754">
                  <a:extLst>
                    <a:ext uri="{9D8B030D-6E8A-4147-A177-3AD203B41FA5}">
                      <a16:colId xmlns:a16="http://schemas.microsoft.com/office/drawing/2014/main" val="1631840672"/>
                    </a:ext>
                  </a:extLst>
                </a:gridCol>
              </a:tblGrid>
              <a:tr h="34698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G" sz="1200">
                          <a:effectLst/>
                        </a:rPr>
                        <a:t>Cluster</a:t>
                      </a:r>
                      <a:endParaRPr lang="en-UG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G" sz="1200">
                          <a:effectLst/>
                        </a:rPr>
                        <a:t>Age (Std)</a:t>
                      </a:r>
                      <a:endParaRPr lang="en-UG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G" sz="1200">
                          <a:effectLst/>
                        </a:rPr>
                        <a:t>Annual Income (Std)</a:t>
                      </a:r>
                      <a:endParaRPr lang="en-UG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G" sz="1200">
                          <a:effectLst/>
                        </a:rPr>
                        <a:t>Spending Score (Std)</a:t>
                      </a:r>
                      <a:endParaRPr lang="en-UG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G" sz="1200">
                          <a:effectLst/>
                        </a:rPr>
                        <a:t>Income_to_Spend (Std)</a:t>
                      </a:r>
                      <a:endParaRPr lang="en-UG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5287343"/>
                  </a:ext>
                </a:extLst>
              </a:tr>
              <a:tr h="34698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G" sz="1200">
                          <a:effectLst/>
                        </a:rPr>
                        <a:t>0</a:t>
                      </a:r>
                      <a:endParaRPr lang="en-UG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G" sz="1200">
                          <a:effectLst/>
                        </a:rPr>
                        <a:t>3.87</a:t>
                      </a:r>
                      <a:endParaRPr lang="en-UG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G" sz="1200">
                          <a:effectLst/>
                        </a:rPr>
                        <a:t>1.61</a:t>
                      </a:r>
                      <a:endParaRPr lang="en-UG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G" sz="1200">
                          <a:effectLst/>
                        </a:rPr>
                        <a:t>7.43</a:t>
                      </a:r>
                      <a:endParaRPr lang="en-UG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G" sz="1200">
                          <a:effectLst/>
                        </a:rPr>
                        <a:t>0.55</a:t>
                      </a:r>
                      <a:endParaRPr lang="en-UG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38556266"/>
                  </a:ext>
                </a:extLst>
              </a:tr>
              <a:tr h="34698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G" sz="1200" dirty="0">
                          <a:effectLst/>
                        </a:rPr>
                        <a:t>1</a:t>
                      </a:r>
                      <a:endParaRPr lang="en-UG" sz="1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G" sz="1200">
                          <a:effectLst/>
                        </a:rPr>
                        <a:t>6.67</a:t>
                      </a:r>
                      <a:endParaRPr lang="en-UG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G" sz="1200">
                          <a:effectLst/>
                        </a:rPr>
                        <a:t>3.17</a:t>
                      </a:r>
                      <a:endParaRPr lang="en-UG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G" sz="1200">
                          <a:effectLst/>
                        </a:rPr>
                        <a:t>1.42</a:t>
                      </a:r>
                      <a:endParaRPr lang="en-UG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G" sz="1200">
                          <a:effectLst/>
                        </a:rPr>
                        <a:t>2.87</a:t>
                      </a:r>
                      <a:endParaRPr lang="en-UG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67045345"/>
                  </a:ext>
                </a:extLst>
              </a:tr>
              <a:tr h="34698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G" sz="1200">
                          <a:effectLst/>
                        </a:rPr>
                        <a:t>2</a:t>
                      </a:r>
                      <a:endParaRPr lang="en-UG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G" sz="1200">
                          <a:effectLst/>
                        </a:rPr>
                        <a:t>8.29</a:t>
                      </a:r>
                      <a:endParaRPr lang="en-UG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G" sz="1200">
                          <a:effectLst/>
                        </a:rPr>
                        <a:t>2.35</a:t>
                      </a:r>
                      <a:endParaRPr lang="en-UG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G" sz="1200">
                          <a:effectLst/>
                        </a:rPr>
                        <a:t>9.25</a:t>
                      </a:r>
                      <a:endParaRPr lang="en-UG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G" sz="1200">
                          <a:effectLst/>
                        </a:rPr>
                        <a:t>0.19</a:t>
                      </a:r>
                      <a:endParaRPr lang="en-UG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05086888"/>
                  </a:ext>
                </a:extLst>
              </a:tr>
              <a:tr h="34698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G" sz="1200">
                          <a:effectLst/>
                        </a:rPr>
                        <a:t>3</a:t>
                      </a:r>
                      <a:endParaRPr lang="en-UG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G" sz="1200">
                          <a:effectLst/>
                        </a:rPr>
                        <a:t>3.18</a:t>
                      </a:r>
                      <a:endParaRPr lang="en-UG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G" sz="1200">
                          <a:effectLst/>
                        </a:rPr>
                        <a:t>1.23</a:t>
                      </a:r>
                      <a:endParaRPr lang="en-UG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G" sz="1200">
                          <a:effectLst/>
                        </a:rPr>
                        <a:t>0.00</a:t>
                      </a:r>
                      <a:endParaRPr lang="en-UG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G" sz="1200">
                          <a:effectLst/>
                        </a:rPr>
                        <a:t>0.00</a:t>
                      </a:r>
                      <a:endParaRPr lang="en-UG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43039416"/>
                  </a:ext>
                </a:extLst>
              </a:tr>
              <a:tr h="34698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G" sz="1200">
                          <a:effectLst/>
                        </a:rPr>
                        <a:t>4</a:t>
                      </a:r>
                      <a:endParaRPr lang="en-UG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G" sz="1200">
                          <a:effectLst/>
                        </a:rPr>
                        <a:t>7.87</a:t>
                      </a:r>
                      <a:endParaRPr lang="en-UG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G" sz="1200">
                          <a:effectLst/>
                        </a:rPr>
                        <a:t>3.18</a:t>
                      </a:r>
                      <a:endParaRPr lang="en-UG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G" sz="1200">
                          <a:effectLst/>
                        </a:rPr>
                        <a:t>8.30</a:t>
                      </a:r>
                      <a:endParaRPr lang="en-UG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G" sz="1200">
                          <a:effectLst/>
                        </a:rPr>
                        <a:t>0.23</a:t>
                      </a:r>
                      <a:endParaRPr lang="en-UG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82214076"/>
                  </a:ext>
                </a:extLst>
              </a:tr>
              <a:tr h="34698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G" sz="1200">
                          <a:effectLst/>
                        </a:rPr>
                        <a:t>5</a:t>
                      </a:r>
                      <a:endParaRPr lang="en-UG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G" sz="1200">
                          <a:effectLst/>
                        </a:rPr>
                        <a:t>6.75</a:t>
                      </a:r>
                      <a:endParaRPr lang="en-UG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G" sz="1200">
                          <a:effectLst/>
                        </a:rPr>
                        <a:t>3.03</a:t>
                      </a:r>
                      <a:endParaRPr lang="en-UG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G" sz="1200">
                          <a:effectLst/>
                        </a:rPr>
                        <a:t>5.52</a:t>
                      </a:r>
                      <a:endParaRPr lang="en-UG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G" sz="1200">
                          <a:effectLst/>
                        </a:rPr>
                        <a:t>0.09</a:t>
                      </a:r>
                      <a:endParaRPr lang="en-UG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04543718"/>
                  </a:ext>
                </a:extLst>
              </a:tr>
              <a:tr h="34698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G" sz="1200">
                          <a:effectLst/>
                        </a:rPr>
                        <a:t>6</a:t>
                      </a:r>
                      <a:endParaRPr lang="en-UG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G" sz="1200">
                          <a:effectLst/>
                        </a:rPr>
                        <a:t>4.36</a:t>
                      </a:r>
                      <a:endParaRPr lang="en-UG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G" sz="1200">
                          <a:effectLst/>
                        </a:rPr>
                        <a:t>2.00</a:t>
                      </a:r>
                      <a:endParaRPr lang="en-UG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G" sz="1200">
                          <a:effectLst/>
                        </a:rPr>
                        <a:t>8.81</a:t>
                      </a:r>
                      <a:endParaRPr lang="en-UG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G" sz="1200" dirty="0">
                          <a:effectLst/>
                        </a:rPr>
                        <a:t>0.44</a:t>
                      </a:r>
                      <a:endParaRPr lang="en-UG" sz="1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54559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20529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Target high spenders with loyalty programs.</a:t>
            </a:r>
          </a:p>
          <a:p>
            <a:r>
              <a:t>Upsell to high-income low-spend customers.</a:t>
            </a:r>
          </a:p>
          <a:p>
            <a:r>
              <a:t>Personalize offers by AgeGroup.</a:t>
            </a:r>
          </a:p>
          <a:p>
            <a:r>
              <a:t>Improve retention strategies.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Effective segmentation achieved.</a:t>
            </a:r>
          </a:p>
          <a:p>
            <a:r>
              <a:t>k=7 best-performing cluster count.</a:t>
            </a:r>
          </a:p>
          <a:p>
            <a:r>
              <a:t>Future work: GMM, PCA visualization, stability analysis.</a:t>
            </a:r>
          </a:p>
          <a:p>
            <a:r>
              <a:t>Use results for targeted marketing.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707</Words>
  <Application>Microsoft Office PowerPoint</Application>
  <PresentationFormat>On-screen Show (4:3)</PresentationFormat>
  <Paragraphs>186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Customer Segmentation — Mall Customers Dataset Using K-Means &amp; Hierarchical Clustering</vt:lpstr>
      <vt:lpstr>INTRODUCTION</vt:lpstr>
      <vt:lpstr>Problem Statement</vt:lpstr>
      <vt:lpstr>Dataset Overview</vt:lpstr>
      <vt:lpstr> preprocessing (method + quick results)</vt:lpstr>
      <vt:lpstr>Feature Details</vt:lpstr>
      <vt:lpstr>Initial Observations</vt:lpstr>
      <vt:lpstr>EDA: Summary Stats</vt:lpstr>
      <vt:lpstr>Histograms Findings</vt:lpstr>
      <vt:lpstr>Boxplot Insights</vt:lpstr>
      <vt:lpstr>Pair Plot Insights</vt:lpstr>
      <vt:lpstr>Correlation Analysis</vt:lpstr>
      <vt:lpstr>Feature Engineering</vt:lpstr>
      <vt:lpstr>Preprocessing Pipeline</vt:lpstr>
      <vt:lpstr>K-Means Evaluation</vt:lpstr>
      <vt:lpstr>Hierarchical Evaluation</vt:lpstr>
      <vt:lpstr>Metrics similar to K-Means: optimal around k=7. Metrics similar to K-Means: optimal around k=7.</vt:lpstr>
      <vt:lpstr>Model Comparison</vt:lpstr>
      <vt:lpstr>Chosen Solution: k=7</vt:lpstr>
      <vt:lpstr>Cluster Insights Summary</vt:lpstr>
      <vt:lpstr>Cluster Centroids (Means)</vt:lpstr>
      <vt:lpstr>Business Implications</vt:lpstr>
      <vt:lpstr>Conclusion &amp;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Segmentation — Mall Customers Dataset Using K-Means &amp; Hierarchical Clustering</dc:title>
  <dc:subject/>
  <dc:creator/>
  <cp:keywords/>
  <dc:description>generated using python-pptx</dc:description>
  <cp:lastModifiedBy>arineitwe thomas</cp:lastModifiedBy>
  <cp:revision>14</cp:revision>
  <dcterms:created xsi:type="dcterms:W3CDTF">2013-01-27T09:14:16Z</dcterms:created>
  <dcterms:modified xsi:type="dcterms:W3CDTF">2025-11-16T21:13:23Z</dcterms:modified>
  <cp:category/>
</cp:coreProperties>
</file>